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7"/>
  </p:notesMasterIdLst>
  <p:sldIdLst>
    <p:sldId id="256" r:id="rId2"/>
    <p:sldId id="290" r:id="rId3"/>
    <p:sldId id="257" r:id="rId4"/>
    <p:sldId id="291" r:id="rId5"/>
    <p:sldId id="293" r:id="rId6"/>
    <p:sldId id="294" r:id="rId7"/>
    <p:sldId id="302" r:id="rId8"/>
    <p:sldId id="296" r:id="rId9"/>
    <p:sldId id="295" r:id="rId10"/>
    <p:sldId id="297" r:id="rId11"/>
    <p:sldId id="304" r:id="rId12"/>
    <p:sldId id="305" r:id="rId13"/>
    <p:sldId id="298" r:id="rId14"/>
    <p:sldId id="292" r:id="rId15"/>
    <p:sldId id="301" r:id="rId16"/>
    <p:sldId id="306" r:id="rId17"/>
    <p:sldId id="319" r:id="rId18"/>
    <p:sldId id="307" r:id="rId19"/>
    <p:sldId id="308" r:id="rId20"/>
    <p:sldId id="309" r:id="rId21"/>
    <p:sldId id="310" r:id="rId22"/>
    <p:sldId id="311" r:id="rId23"/>
    <p:sldId id="323" r:id="rId24"/>
    <p:sldId id="324" r:id="rId25"/>
    <p:sldId id="332" r:id="rId26"/>
    <p:sldId id="333" r:id="rId27"/>
    <p:sldId id="335" r:id="rId28"/>
    <p:sldId id="334" r:id="rId29"/>
    <p:sldId id="340" r:id="rId30"/>
    <p:sldId id="336" r:id="rId31"/>
    <p:sldId id="337" r:id="rId32"/>
    <p:sldId id="338" r:id="rId33"/>
    <p:sldId id="299" r:id="rId34"/>
    <p:sldId id="314" r:id="rId35"/>
    <p:sldId id="327" r:id="rId36"/>
    <p:sldId id="313" r:id="rId37"/>
    <p:sldId id="328" r:id="rId38"/>
    <p:sldId id="315" r:id="rId39"/>
    <p:sldId id="329" r:id="rId40"/>
    <p:sldId id="316" r:id="rId41"/>
    <p:sldId id="330" r:id="rId42"/>
    <p:sldId id="317" r:id="rId43"/>
    <p:sldId id="331" r:id="rId44"/>
    <p:sldId id="300" r:id="rId45"/>
    <p:sldId id="341" r:id="rId4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6" autoAdjust="0"/>
    <p:restoredTop sz="86053" autoAdjust="0"/>
  </p:normalViewPr>
  <p:slideViewPr>
    <p:cSldViewPr snapToGrid="0">
      <p:cViewPr varScale="1">
        <p:scale>
          <a:sx n="91" d="100"/>
          <a:sy n="91" d="100"/>
        </p:scale>
        <p:origin x="79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notesMaster" Target="notesMasters/notesMaster1.xml"/><Relationship Id="rId50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1" i="0" u="none" strike="noStrike" kern="1200" cap="all" spc="5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CVE数据集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  <a:scene3d>
                <a:camera prst="orthographicFront"/>
                <a:lightRig rig="brightRoom" dir="t"/>
              </a:scene3d>
              <a:sp3d prstMaterial="flat">
                <a:bevelT w="50800" h="101600" prst="angle"/>
                <a:contourClr>
                  <a:srgbClr val="000000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1-08B7-41A5-A372-702C72850BBF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>
                <a:noFill/>
              </a:ln>
              <a:effectLst/>
              <a:scene3d>
                <a:camera prst="orthographicFront"/>
                <a:lightRig rig="brightRoom" dir="t"/>
              </a:scene3d>
              <a:sp3d prstMaterial="flat">
                <a:bevelT w="50800" h="101600" prst="angle"/>
                <a:contourClr>
                  <a:srgbClr val="000000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3-08B7-41A5-A372-702C72850BBF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>
                <a:noFill/>
              </a:ln>
              <a:effectLst/>
              <a:scene3d>
                <a:camera prst="orthographicFront"/>
                <a:lightRig rig="brightRoom" dir="t"/>
              </a:scene3d>
              <a:sp3d prstMaterial="flat">
                <a:bevelT w="50800" h="101600" prst="angle"/>
                <a:contourClr>
                  <a:srgbClr val="000000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5-08B7-41A5-A372-702C72850BBF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fld id="{791DFDF9-51B0-45D6-B60D-F9C08B4A6041}" type="CELLRANGE">
                      <a:rPr lang="en-US" altLang="zh-CN"/>
                      <a:pPr/>
                      <a:t>[CELLRANGE]</a:t>
                    </a:fld>
                    <a:endParaRPr lang="zh-CN" altLang="en-US"/>
                  </a:p>
                </c:rich>
              </c:tx>
              <c:dLblPos val="inEnd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1-08B7-41A5-A372-702C72850BBF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fld id="{E110F93E-A306-477C-A33D-F359C0F25CA8}" type="CELLRANGE">
                      <a:rPr lang="en-US" altLang="zh-CN"/>
                      <a:pPr/>
                      <a:t>[CELLRANGE]</a:t>
                    </a:fld>
                    <a:endParaRPr lang="zh-CN" altLang="en-US"/>
                  </a:p>
                </c:rich>
              </c:tx>
              <c:dLblPos val="inEnd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3-08B7-41A5-A372-702C72850BBF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fld id="{FBC38033-A802-47A2-AD2D-91846D9612DF}" type="CELLRANGE">
                      <a:rPr lang="en-US" altLang="zh-CN"/>
                      <a:pPr/>
                      <a:t>[CELLRANGE]</a:t>
                    </a:fld>
                    <a:endParaRPr lang="zh-CN" altLang="en-US"/>
                  </a:p>
                </c:rich>
              </c:tx>
              <c:dLblPos val="inEnd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5-08B7-41A5-A372-702C72850BBF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zh-CN"/>
              </a:p>
            </c:txPr>
            <c:dLblPos val="inEnd"/>
            <c:showLegendKey val="0"/>
            <c:showVal val="0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>
                <c15:showDataLabelsRange val="1"/>
              </c:ext>
            </c:extLst>
          </c:dLbls>
          <c:cat>
            <c:strRef>
              <c:f>Sheet1!$A$2:$A$4</c:f>
              <c:strCache>
                <c:ptCount val="3"/>
                <c:pt idx="0">
                  <c:v>命中</c:v>
                </c:pt>
                <c:pt idx="1">
                  <c:v>漏报</c:v>
                </c:pt>
                <c:pt idx="2">
                  <c:v>误报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54</c:v>
                </c:pt>
                <c:pt idx="1">
                  <c:v>11</c:v>
                </c:pt>
                <c:pt idx="2">
                  <c:v>7</c:v>
                </c:pt>
              </c:numCache>
            </c:numRef>
          </c:val>
          <c:extLst>
            <c:ext xmlns:c15="http://schemas.microsoft.com/office/drawing/2012/chart" uri="{02D57815-91ED-43cb-92C2-25804820EDAC}">
              <c15:datalabelsRange>
                <c15:f>Sheet1!$B$2:$B$4</c15:f>
                <c15:dlblRangeCache>
                  <c:ptCount val="3"/>
                  <c:pt idx="0">
                    <c:v>54</c:v>
                  </c:pt>
                  <c:pt idx="1">
                    <c:v>11</c:v>
                  </c:pt>
                  <c:pt idx="2">
                    <c:v>7</c:v>
                  </c:pt>
                </c15:dlblRangeCache>
              </c15:datalabelsRange>
            </c:ext>
            <c:ext xmlns:c16="http://schemas.microsoft.com/office/drawing/2014/chart" uri="{C3380CC4-5D6E-409C-BE32-E72D297353CC}">
              <c16:uniqueId val="{00000000-7DE4-41A5-82F0-0BFB880673F6}"/>
            </c:ext>
          </c:extLst>
        </c:ser>
        <c:dLbls>
          <c:dLblPos val="inEnd"/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zh-CN" altLang="en-US" dirty="0"/>
              <a:t>代码变异</a:t>
            </a:r>
            <a:endParaRPr lang="zh-CN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命中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zh-C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Sheet1!$A$2:$A$6</c:f>
              <c:strCache>
                <c:ptCount val="5"/>
                <c:pt idx="0">
                  <c:v>原始代码</c:v>
                </c:pt>
                <c:pt idx="1">
                  <c:v>LVR</c:v>
                </c:pt>
                <c:pt idx="2">
                  <c:v>EER</c:v>
                </c:pt>
                <c:pt idx="3">
                  <c:v>CN</c:v>
                </c:pt>
                <c:pt idx="4">
                  <c:v>ISR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54</c:v>
                </c:pt>
                <c:pt idx="1">
                  <c:v>52</c:v>
                </c:pt>
                <c:pt idx="2">
                  <c:v>48</c:v>
                </c:pt>
                <c:pt idx="3">
                  <c:v>49</c:v>
                </c:pt>
                <c:pt idx="4">
                  <c:v>49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0C3-40F3-8DFB-E7DC94ABE9D3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漏报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zh-C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Sheet1!$A$2:$A$6</c:f>
              <c:strCache>
                <c:ptCount val="5"/>
                <c:pt idx="0">
                  <c:v>原始代码</c:v>
                </c:pt>
                <c:pt idx="1">
                  <c:v>LVR</c:v>
                </c:pt>
                <c:pt idx="2">
                  <c:v>EER</c:v>
                </c:pt>
                <c:pt idx="3">
                  <c:v>CN</c:v>
                </c:pt>
                <c:pt idx="4">
                  <c:v>ISR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11</c:v>
                </c:pt>
                <c:pt idx="1">
                  <c:v>11</c:v>
                </c:pt>
                <c:pt idx="2">
                  <c:v>11</c:v>
                </c:pt>
                <c:pt idx="3">
                  <c:v>13</c:v>
                </c:pt>
                <c:pt idx="4">
                  <c:v>12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10C3-40F3-8DFB-E7DC94ABE9D3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误报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zh-C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Sheet1!$A$2:$A$6</c:f>
              <c:strCache>
                <c:ptCount val="5"/>
                <c:pt idx="0">
                  <c:v>原始代码</c:v>
                </c:pt>
                <c:pt idx="1">
                  <c:v>LVR</c:v>
                </c:pt>
                <c:pt idx="2">
                  <c:v>EER</c:v>
                </c:pt>
                <c:pt idx="3">
                  <c:v>CN</c:v>
                </c:pt>
                <c:pt idx="4">
                  <c:v>ISR</c:v>
                </c:pt>
              </c:strCache>
            </c: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7</c:v>
                </c:pt>
                <c:pt idx="1">
                  <c:v>12</c:v>
                </c:pt>
                <c:pt idx="2">
                  <c:v>12</c:v>
                </c:pt>
                <c:pt idx="3">
                  <c:v>9</c:v>
                </c:pt>
                <c:pt idx="4">
                  <c:v>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10C3-40F3-8DFB-E7DC94ABE9D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20"/>
        <c:overlap val="-21"/>
        <c:axId val="1982650672"/>
        <c:axId val="1943904175"/>
      </c:barChart>
      <c:catAx>
        <c:axId val="1982650672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943904175"/>
        <c:crosses val="autoZero"/>
        <c:auto val="1"/>
        <c:lblAlgn val="ctr"/>
        <c:lblOffset val="100"/>
        <c:noMultiLvlLbl val="0"/>
      </c:catAx>
      <c:valAx>
        <c:axId val="1943904175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98265067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8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lt1"/>
    </cs:fontRef>
    <cs:defRPr sz="1197" b="1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scene3d>
        <a:camera prst="orthographicFront"/>
        <a:lightRig rig="brightRoom" dir="t"/>
      </a:scene3d>
      <a:sp3d prstMaterial="flat">
        <a:bevelT w="50800" h="101600" prst="angle"/>
        <a:contourClr>
          <a:srgbClr val="000000"/>
        </a:contourClr>
      </a:sp3d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1905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1" i="0" kern="1200" cap="all" spc="5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582DDB-FC6F-4DD1-B4FB-5EC85EF449B3}" type="datetimeFigureOut">
              <a:rPr lang="zh-CN" altLang="en-US" smtClean="0"/>
              <a:t>2026/5/20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EC2F4A5-D0A6-4A9E-8FCC-E8E1AABC4E8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618680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889D8F-6DE3-4097-BC33-FB6D9D32F3A5}" type="slidenum">
              <a:rPr lang="zh-CN" altLang="en-US" smtClean="0"/>
              <a:t>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889D8F-6DE3-4097-BC33-FB6D9D32F3A5}" type="slidenum">
              <a:rPr lang="zh-CN" altLang="en-US" smtClean="0"/>
              <a:t>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9AE13B-22E5-8D20-0659-DC12DF60AD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8DEA9747-5DF4-CC69-AEE9-29A8BAC905E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C2AFB712-8001-3404-51E3-7D4AE9682A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A94BCB4-4D1C-3970-273C-5AA1AC0F30B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889D8F-6DE3-4097-BC33-FB6D9D32F3A5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0855391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250F29-5375-BB2D-87C7-E0B006E0E5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078298E2-F6D6-295D-3F2B-03568B8AFF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93279D31-7AC7-CB4E-8606-49C9300078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C6F292A-2D56-B33C-EBF3-34F61F55A30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889D8F-6DE3-4097-BC33-FB6D9D32F3A5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6810179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4BB298-51FA-B26A-677A-9F30E6ECE5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9396869A-DFE0-BA02-3373-70A8474FFAB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D6354E9B-9DD6-35A5-9EB2-88C886B3AEE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22FC82C-A5D8-02B2-FC4A-3D1AB0DE346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889D8F-6DE3-4097-BC33-FB6D9D32F3A5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8478839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BBE1EB-2391-55E3-3D09-E9001407B5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274CDB71-1FB2-DD66-6B5C-8C1FB3FDD1B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8FD8125E-D1EC-ECC1-CD37-EB003E03DD7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64A170A-874B-1B25-BCEF-E413C683BC3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889D8F-6DE3-4097-BC33-FB6D9D32F3A5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7816846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0BE557-CCF5-1C8D-3D84-571456577E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93400B08-6F62-70A5-9428-DDDAB7FC2F8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47C49C6A-AB49-DAA2-1CF1-11642582310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0A6F766-D727-72B5-4BEB-8E3C3CBBE2A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889D8F-6DE3-4097-BC33-FB6D9D32F3A5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9109167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F8E922-CAEE-C6E1-A046-DF36DB415E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163ADF4-136F-32B8-3A7B-C056CFC399B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8FADAC9-0BF0-19FB-508A-F0249515B13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34B263F-DF8B-76DE-1DE6-C846E0BF995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889D8F-6DE3-4097-BC33-FB6D9D32F3A5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0344669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C42130-887B-D1E1-DE22-EF5EC2E7E0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2BB1C79A-22BE-9A1F-C987-E4E7C3366E7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89832AFE-F568-6721-1DA9-70DEF0BB36D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606CCC4-BBA9-19EE-C7F0-2CDBA107778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889D8F-6DE3-4097-BC33-FB6D9D32F3A5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2923432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D2D0BF-CD45-CD8C-97AC-9509174732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B6C039CC-C69E-3EC7-A8DB-1A84BBE1FB6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9343A5B2-F1A3-A71C-6FC1-1EAE8E18BF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7581E65-0825-30C5-9F0D-560C5F77394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889D8F-6DE3-4097-BC33-FB6D9D32F3A5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3838402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3ABC1C-1B8C-B043-46AA-66C637A007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2E1F5E21-D80E-DC19-02CD-37D218C0458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382912E5-3199-6603-918A-7159E8A07FF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401806A-EA5D-C55D-815F-267FEF5801C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889D8F-6DE3-4097-BC33-FB6D9D32F3A5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06015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EBB553-91FC-7594-2AA2-2B566ABE4C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AD149ED-466B-5502-2E51-6D2A93AAC7F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EEDA0FA7-0C64-32B0-96B0-5B003AEAF69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A3DE246-9D03-1C8E-C544-8167177EC85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889D8F-6DE3-4097-BC33-FB6D9D32F3A5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9064106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F66409-8D23-D0FA-6FB4-0784FF7656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6054D96C-084B-210B-09A9-9CA4A71DB23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EBDA3DC0-607E-8716-7F22-E6B762AC386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79574D1-3B7A-1764-0ECB-1A6265D332F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889D8F-6DE3-4097-BC33-FB6D9D32F3A5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3105075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38E1F9-5492-B692-60F2-07ABFAC0D2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740DBB6E-2C48-C715-4663-52F73A57432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303CEE34-DA41-7C92-3690-D1CE6CE7E5A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1EEFE59-97FB-66C2-A787-87D74A49517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889D8F-6DE3-4097-BC33-FB6D9D32F3A5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0454452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913AFA-1E4C-F31C-5938-DA8A6A5A9F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60A8679E-637C-60E2-6E53-0DD0F852380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62ED8DD7-4E17-A77D-318A-23D6176B97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638FAC5-B781-9404-0BA5-0E4C8634A04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889D8F-6DE3-4097-BC33-FB6D9D32F3A5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4943466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19ECC4-364E-09E6-0375-0CF0BB46C1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3CBCB3C-D088-BC36-6856-ABC18D6EBFF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9E57426D-CE90-A90A-5716-F6EA0BD7248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0751266-398F-E22F-8920-A2CCC98E021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889D8F-6DE3-4097-BC33-FB6D9D32F3A5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9705278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47A560-1E9A-0C2C-5696-AAE7A24820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2BFE4290-CBDF-1EA5-8EA8-CFC4FD60B2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E8FF1F40-D0B2-E001-579D-3998DF3B190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B7408EE-DF89-C8A9-CD4B-54A5D7E520F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889D8F-6DE3-4097-BC33-FB6D9D32F3A5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1947633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31F2C2-49A7-A062-5C8C-CA3C6FEB61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9E90B628-2694-2458-409B-36E2F99C8EA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EE5798A3-7531-8DDA-4842-51883929DE8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F99291F-4204-AEBD-4916-48B98613F24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889D8F-6DE3-4097-BC33-FB6D9D32F3A5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2458092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E4AF7C-D0AE-2068-9410-4145860DF7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B3ADA2BA-7CD7-83B1-F5A5-12A4642C3CC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3A8A36DA-F5E7-3850-71F6-185BF4A3E4B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A3DE9A3-4197-5D58-D4B8-62CED0F2923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889D8F-6DE3-4097-BC33-FB6D9D32F3A5}" type="slidenum">
              <a:rPr lang="zh-CN" altLang="en-US" smtClean="0"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7559444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F9B2A8-D502-83E4-9C97-D994D23EFA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695303F8-5FE7-0AF8-6C48-60DF21FFAC2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97791232-1248-9855-A2FC-6749B8DA21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86AFCEA-A3A0-727D-D341-8440CAC6A27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889D8F-6DE3-4097-BC33-FB6D9D32F3A5}" type="slidenum">
              <a:rPr lang="zh-CN" altLang="en-US" smtClean="0"/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631383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99152A-CDA2-63F9-BEEB-CAE3C8C091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5B294C78-5C50-58CD-2E86-07BEFFD3D4D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3CAB59B5-03D4-5BCA-C2FD-B93A9052C6D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E355823-A285-D387-D4AB-3EE6D9A2128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889D8F-6DE3-4097-BC33-FB6D9D32F3A5}" type="slidenum">
              <a:rPr lang="zh-CN" altLang="en-US" smtClean="0"/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3690522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D28F89-5C33-14A1-CD12-002463D9A6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5733866B-10DF-5FF4-A04A-FFCAC45994A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452B7A50-B64F-C0A8-A59E-E548E26600A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124361B-9DF0-86C4-3514-13AB161766C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889D8F-6DE3-4097-BC33-FB6D9D32F3A5}" type="slidenum">
              <a:rPr lang="zh-CN" altLang="en-US" smtClean="0"/>
              <a:t>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1900602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80B924-FDD5-0511-E114-AD74A7470F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B5F307D8-45F3-3A87-91AA-F4B4591869C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DA6D7AD0-CD11-23F8-1752-32F9FA8D446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FD87FE8-418A-34F7-9DDF-36BA68B51F1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889D8F-6DE3-4097-BC33-FB6D9D32F3A5}" type="slidenum">
              <a:rPr lang="zh-CN" altLang="en-US" smtClean="0"/>
              <a:t>24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9925560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72BF85-535B-9592-8010-377275AD67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97BD7040-D657-D502-F231-E90E7943650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5DBCDED9-09C8-7AC9-CDC5-397CB51F53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799BE14-89CD-E223-1F53-3985FF760A1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889D8F-6DE3-4097-BC33-FB6D9D32F3A5}" type="slidenum">
              <a:rPr lang="zh-CN" altLang="en-US" smtClean="0"/>
              <a:t>25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3943279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6FA4E7-EC8F-401D-6C60-E7A7EDCDD4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DACBA0AF-1CCC-8803-FC3B-DBCAB3F2CCA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97EDD564-AD59-1DA5-0B39-8189CCD7053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D5B8E52-5C72-CCD8-ED39-11638A7DF9F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889D8F-6DE3-4097-BC33-FB6D9D32F3A5}" type="slidenum">
              <a:rPr lang="zh-CN" altLang="en-US" smtClean="0"/>
              <a:t>26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70234578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2888E4-E9BA-35FE-31F5-848618A428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90E1BA6-948B-8E70-AD71-A1C4EEA5A21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7815E07-2005-66DF-E895-76044C7EA2A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E61E235-A7DA-2548-1CE7-C1900B9AAE9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889D8F-6DE3-4097-BC33-FB6D9D32F3A5}" type="slidenum">
              <a:rPr lang="zh-CN" altLang="en-US" smtClean="0"/>
              <a:t>27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67332594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FB51C7-1642-DE7A-1867-AC59339003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E3BAC49-43CA-28B3-9135-9D4288DA613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B72EB032-5D7F-2C57-93D6-81A60B15E47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950C34D-14CF-BA1D-6C5D-D61BAE3F259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889D8F-6DE3-4097-BC33-FB6D9D32F3A5}" type="slidenum">
              <a:rPr lang="zh-CN" altLang="en-US" smtClean="0"/>
              <a:t>30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9418994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B422D1-75CB-8182-0876-8EF26A2D47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5EFE4E7C-33D4-9BB1-3E54-A8AB6F840DA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D5598E3E-CE04-D217-642D-6B118E7E62F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C961F2B-65D5-DE50-3E21-F004E7689BF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889D8F-6DE3-4097-BC33-FB6D9D32F3A5}" type="slidenum">
              <a:rPr lang="zh-CN" altLang="en-US" smtClean="0"/>
              <a:t>33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62491268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70F22E-AE86-1562-3BF1-EE73E1A216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9CEC8DB5-E9D9-1555-0250-41F53CF63FB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0A68E9A3-C5E4-F1A8-0A1B-D229FEF4661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BA6CEF9-B966-6BFC-D773-F3990AB6AF7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889D8F-6DE3-4097-BC33-FB6D9D32F3A5}" type="slidenum">
              <a:rPr lang="zh-CN" altLang="en-US" smtClean="0"/>
              <a:t>34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27732875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01D96F-B93E-A12E-5BF2-96EFE635CD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0D8FCD3C-3E8D-A6D6-CD86-7DEEB2E0F00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42A6E0A7-E80A-838A-5A08-1F5E9209A6B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7C587EF-504A-FBDE-A98E-86DC112A2C7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889D8F-6DE3-4097-BC33-FB6D9D32F3A5}" type="slidenum">
              <a:rPr lang="zh-CN" altLang="en-US" smtClean="0"/>
              <a:t>36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54943730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FBBC42-58D8-6247-B8AA-C721F8893D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555FDCD4-27E0-1A31-9162-5819707554A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41097D2B-4B46-AF54-C979-109836413F2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36AAF8E-0EDB-499F-4E42-2389E6A964B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889D8F-6DE3-4097-BC33-FB6D9D32F3A5}" type="slidenum">
              <a:rPr lang="zh-CN" altLang="en-US" smtClean="0"/>
              <a:t>38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79922960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0038A6-2E90-C1A7-B389-6FC754D1D4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365B4AE7-91A3-0E3E-A174-4269415595D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736C1358-C2CD-FEB5-F892-B53C8CB15FA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6F90BCD-D5FF-5A3E-ED72-E648F7160C9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889D8F-6DE3-4097-BC33-FB6D9D32F3A5}" type="slidenum">
              <a:rPr lang="zh-CN" altLang="en-US" smtClean="0"/>
              <a:t>40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90509043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56B590-C779-32F9-5B10-6D0B9C8EAC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30356772-A2B5-F73C-7347-FFA23AFA6D9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81F3A608-219F-B795-2506-A1FD06066DA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F59A779-D14A-C951-29CE-B5DD67338DD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889D8F-6DE3-4097-BC33-FB6D9D32F3A5}" type="slidenum">
              <a:rPr lang="zh-CN" altLang="en-US" smtClean="0"/>
              <a:t>42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96729824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575622-A98B-A6FA-2A5A-F4D76DBDF8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48F4D42C-1BEF-3D02-D129-1A6A3FD9B76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6E938476-AD75-072F-D779-7C53AB41E39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3EF4A0E-1FFA-5454-51C5-601C8A61E13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889D8F-6DE3-4097-BC33-FB6D9D32F3A5}" type="slidenum">
              <a:rPr lang="zh-CN" altLang="en-US" smtClean="0"/>
              <a:t>44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5220347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C23C1A-0720-4481-D4B5-E9EA7E960F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2C155A73-96D3-1E2B-CA3D-F856FFAA7D9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37E456A7-BBA3-FFD0-D510-6F5936E2D5E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D36D2B6-8110-B9B3-D9F6-4CF2EFEE083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889D8F-6DE3-4097-BC33-FB6D9D32F3A5}" type="slidenum">
              <a:rPr lang="zh-CN" altLang="en-US" smtClean="0"/>
              <a:t>45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883262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07E78C8-06C5-9D2E-1258-6ED6DFD738A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D0BA8857-ECED-0D42-027C-44E16091B7F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CE1FB0B-5716-7769-F54D-DEA167D7E0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54315E-61E7-4EC4-A045-9EE04E3F4D5A}" type="datetimeFigureOut">
              <a:rPr lang="zh-CN" altLang="en-US" smtClean="0"/>
              <a:t>2026/5/20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8A44930-5C06-31ED-B576-F6A62DA137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A5773D1-970D-B7A8-15A7-B5FD00FD9C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0D25FC-52FD-4534-B51A-2A8CFC13624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318078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234B2B3-2092-9A23-154F-3F3C576E1E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AB1EF2D-1989-00B4-182A-E2C98A2CB1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83C216F-677A-466A-A2D5-11089C2A07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54315E-61E7-4EC4-A045-9EE04E3F4D5A}" type="datetimeFigureOut">
              <a:rPr lang="zh-CN" altLang="en-US" smtClean="0"/>
              <a:t>2026/5/20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412F81E-665E-F458-8ABE-4A80B68ECD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BD73BA3-0F49-80CA-B005-8CDDA1A66D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0D25FC-52FD-4534-B51A-2A8CFC13624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922309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97A5F47-6CF9-1FC2-F4EF-9904641ED9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05198A6-5FFD-4965-5394-BF18F09DFB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6A11B4D-9BB8-DF51-2526-E14B4F4D02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54315E-61E7-4EC4-A045-9EE04E3F4D5A}" type="datetimeFigureOut">
              <a:rPr lang="zh-CN" altLang="en-US" smtClean="0"/>
              <a:t>2026/5/20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A8BFA30-AF23-F7CF-06B4-3B7BB4F2E9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64B6BE5-0D07-0D03-D103-079010E6E6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0D25FC-52FD-4534-B51A-2A8CFC13624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091843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AFD6EBE-2552-96EF-7134-D209EEDB3B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4438221-7D64-48BA-71F8-83BDEA3EB02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3601C59-4CC5-A348-FCB2-9A86D9F639A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9C57455-7A5D-5043-01C6-5217A9A6B5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54315E-61E7-4EC4-A045-9EE04E3F4D5A}" type="datetimeFigureOut">
              <a:rPr lang="zh-CN" altLang="en-US" smtClean="0"/>
              <a:t>2026/5/20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5CA3FE1-E360-3F4A-3119-18B8077117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DFFF2D2-9258-DF1A-C996-113362CC0F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0D25FC-52FD-4534-B51A-2A8CFC13624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328008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18AC0E3-4EE3-C850-6650-4450E6FF25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B4776F6-7374-AD5D-3914-6DC62A6168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59AD165-0053-C9B9-80A3-9F1466E653F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AA363C7D-CCED-D3CE-7123-D8491550339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603C8F3-547B-4A3C-7146-5A404447117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745011B8-4616-50A8-76BE-04C07297B6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54315E-61E7-4EC4-A045-9EE04E3F4D5A}" type="datetimeFigureOut">
              <a:rPr lang="zh-CN" altLang="en-US" smtClean="0"/>
              <a:t>2026/5/20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7619399D-8CEB-E388-6808-9EF7139BCF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57ED4208-24C2-E05A-0A25-696EACCF93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0D25FC-52FD-4534-B51A-2A8CFC13624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753570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A23E18A-A9E2-D946-5792-9A8BA9EF0A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6A04AD8E-1CFF-D38C-4178-CD8E85483D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54315E-61E7-4EC4-A045-9EE04E3F4D5A}" type="datetimeFigureOut">
              <a:rPr lang="zh-CN" altLang="en-US" smtClean="0"/>
              <a:t>2026/5/20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8EB12E47-DF36-8972-F84E-42FAD6BB87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7D09EDB2-B623-AA73-D027-85D6ADFB9F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0D25FC-52FD-4534-B51A-2A8CFC13624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063420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7D4768B0-1353-1DBB-FE51-074E893874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54315E-61E7-4EC4-A045-9EE04E3F4D5A}" type="datetimeFigureOut">
              <a:rPr lang="zh-CN" altLang="en-US" smtClean="0"/>
              <a:t>2026/5/20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D35CB6BD-51CA-2613-2D75-195EB1AECA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4CE4311-E3B4-8D81-9698-94E371BD9C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0D25FC-52FD-4534-B51A-2A8CFC13624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841180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86C3692-7929-F5A5-EAE4-3516B495A5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B2DBFF7-48C6-81A9-F5DD-95D0340D2A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5E54346-195F-4A28-444B-43CDA9F84F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C8F2657-33A1-1A03-2C74-0FF55D881A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54315E-61E7-4EC4-A045-9EE04E3F4D5A}" type="datetimeFigureOut">
              <a:rPr lang="zh-CN" altLang="en-US" smtClean="0"/>
              <a:t>2026/5/20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E82882E-9FA6-6739-3A04-243A1F31C4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EF59126-0E5E-6760-C77F-41E4715B5D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0D25FC-52FD-4534-B51A-2A8CFC13624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439081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E2350F-696B-CEFD-EDAD-6CAD16CA07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CD1E9F02-FDB8-943F-E9E5-F4716FB2060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00C815C-CAD6-1599-CBE5-795FEB08BF5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3E0535C-8573-3811-2874-04077B180F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54315E-61E7-4EC4-A045-9EE04E3F4D5A}" type="datetimeFigureOut">
              <a:rPr lang="zh-CN" altLang="en-US" smtClean="0"/>
              <a:t>2026/5/20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4039D46-95D8-3EB0-D578-55BFB68BF1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72F34F3-6E77-28D1-F3A5-59BC93CC2D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0D25FC-52FD-4534-B51A-2A8CFC13624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660697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CD96C71-8A26-8BCC-41F3-41D38A687B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2EDC90FD-7D4A-11FC-48C5-1E0428DC6B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C5D4170-F126-3367-AB02-00F4DFFD2E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54315E-61E7-4EC4-A045-9EE04E3F4D5A}" type="datetimeFigureOut">
              <a:rPr lang="zh-CN" altLang="en-US" smtClean="0"/>
              <a:t>2026/5/20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E952F42-0B92-2D7E-0149-0888B2B04F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D83D890-78B5-7CB7-47A8-A6DE58F3C6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0D25FC-52FD-4534-B51A-2A8CFC13624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428597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A861DA1B-EF30-1A7D-7374-FB113BAEA35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36489F06-1159-FC48-C50A-9D3A710582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9050D9D-0E0A-8423-E325-A1CD74BE74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54315E-61E7-4EC4-A045-9EE04E3F4D5A}" type="datetimeFigureOut">
              <a:rPr lang="zh-CN" altLang="en-US" smtClean="0"/>
              <a:t>2026/5/20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267A68D-0258-D891-81F8-091E392DFC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F482EAE-246C-0041-1A02-A8E61EA53A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0D25FC-52FD-4534-B51A-2A8CFC13624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811006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4D0877D8-CFAB-5F15-1D80-7BC848519C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94DA450-5314-C801-9B2D-44A8045F9B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96C1A6B-9985-79C0-AB1F-8C738D6A350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C54315E-61E7-4EC4-A045-9EE04E3F4D5A}" type="datetimeFigureOut">
              <a:rPr lang="zh-CN" altLang="en-US" smtClean="0"/>
              <a:t>2026/5/20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241D2B9-2B20-7F9E-0D99-FB661660CEF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26EFC21-344C-E1F0-B694-A5065FDEAC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D0D25FC-52FD-4534-B51A-2A8CFC13624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659372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png"/><Relationship Id="rId3" Type="http://schemas.openxmlformats.org/officeDocument/2006/relationships/image" Target="../media/image46.png"/><Relationship Id="rId7" Type="http://schemas.openxmlformats.org/officeDocument/2006/relationships/image" Target="../media/image50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9.png"/><Relationship Id="rId5" Type="http://schemas.openxmlformats.org/officeDocument/2006/relationships/image" Target="../media/image48.png"/><Relationship Id="rId4" Type="http://schemas.openxmlformats.org/officeDocument/2006/relationships/image" Target="../media/image47.png"/><Relationship Id="rId9" Type="http://schemas.openxmlformats.org/officeDocument/2006/relationships/image" Target="../media/image52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7" Type="http://schemas.openxmlformats.org/officeDocument/2006/relationships/image" Target="../media/image59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8.png"/><Relationship Id="rId5" Type="http://schemas.openxmlformats.org/officeDocument/2006/relationships/image" Target="../media/image57.png"/><Relationship Id="rId4" Type="http://schemas.openxmlformats.org/officeDocument/2006/relationships/image" Target="../media/image56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4.png"/><Relationship Id="rId4" Type="http://schemas.openxmlformats.org/officeDocument/2006/relationships/image" Target="../media/image63.png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>
            <a:extLst>
              <a:ext uri="{FF2B5EF4-FFF2-40B4-BE49-F238E27FC236}">
                <a16:creationId xmlns:a16="http://schemas.microsoft.com/office/drawing/2014/main" id="{EB4B99EA-D7B1-92E6-5448-4BAFD5274E3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>
            <a:normAutofit/>
          </a:bodyPr>
          <a:lstStyle/>
          <a:p>
            <a:r>
              <a:rPr lang="zh-CN" altLang="en-US" dirty="0"/>
              <a:t>基于大模型和领域建模语言的安全漏洞模式挖掘</a:t>
            </a:r>
          </a:p>
        </p:txBody>
      </p:sp>
      <p:sp>
        <p:nvSpPr>
          <p:cNvPr id="5" name="副标题 2">
            <a:extLst>
              <a:ext uri="{FF2B5EF4-FFF2-40B4-BE49-F238E27FC236}">
                <a16:creationId xmlns:a16="http://schemas.microsoft.com/office/drawing/2014/main" id="{B02043F4-3C10-72B8-B45A-64CA01ECFC7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 lnSpcReduction="10000"/>
          </a:bodyPr>
          <a:lstStyle/>
          <a:p>
            <a:endParaRPr lang="zh-CN" altLang="en-US" dirty="0"/>
          </a:p>
          <a:p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第二阶段</a:t>
            </a:r>
          </a:p>
        </p:txBody>
      </p:sp>
    </p:spTree>
    <p:extLst>
      <p:ext uri="{BB962C8B-B14F-4D97-AF65-F5344CB8AC3E}">
        <p14:creationId xmlns:p14="http://schemas.microsoft.com/office/powerpoint/2010/main" val="29828516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4064000" y="1995805"/>
            <a:ext cx="40640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5400" b="1" dirty="0"/>
              <a:t>当前设计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framework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9860" y="153035"/>
            <a:ext cx="9352280" cy="587248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4064000" y="6327140"/>
            <a:ext cx="406400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800"/>
              <a:t>整体框架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D58747-F142-C2C4-78BE-DA76889539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D8D09FB6-E302-A650-27D1-4057FD7C3FDA}"/>
              </a:ext>
            </a:extLst>
          </p:cNvPr>
          <p:cNvSpPr txBox="1"/>
          <p:nvPr/>
        </p:nvSpPr>
        <p:spPr>
          <a:xfrm>
            <a:off x="4064000" y="1995805"/>
            <a:ext cx="40640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5400" b="1" dirty="0"/>
              <a:t>数据集设计</a:t>
            </a:r>
          </a:p>
        </p:txBody>
      </p:sp>
    </p:spTree>
    <p:extLst>
      <p:ext uri="{BB962C8B-B14F-4D97-AF65-F5344CB8AC3E}">
        <p14:creationId xmlns:p14="http://schemas.microsoft.com/office/powerpoint/2010/main" val="18384893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F3471A-4E6A-6DAC-D928-F817C42E85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EBC21F3E-35DA-162C-06AC-CDBE4DE5A707}"/>
              </a:ext>
            </a:extLst>
          </p:cNvPr>
          <p:cNvSpPr txBox="1"/>
          <p:nvPr/>
        </p:nvSpPr>
        <p:spPr>
          <a:xfrm>
            <a:off x="393700" y="438150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latin typeface="+mj-ea"/>
                <a:ea typeface="+mj-ea"/>
              </a:rPr>
              <a:t>筛选规则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6B8A77C1-C327-92E3-4B3B-112B3DAC7E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73811" y="1641380"/>
            <a:ext cx="5444378" cy="33781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66992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596F7F-F363-C500-BED4-93547AF995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99906014-19E0-2F80-6D96-BF7D730E0632}"/>
              </a:ext>
            </a:extLst>
          </p:cNvPr>
          <p:cNvSpPr txBox="1"/>
          <p:nvPr/>
        </p:nvSpPr>
        <p:spPr>
          <a:xfrm>
            <a:off x="393700" y="438150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latin typeface="+mn-ea"/>
              </a:rPr>
              <a:t>筛选规则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396B150D-8AEB-FC5C-19AB-2F321A1C4C22}"/>
              </a:ext>
            </a:extLst>
          </p:cNvPr>
          <p:cNvSpPr txBox="1"/>
          <p:nvPr/>
        </p:nvSpPr>
        <p:spPr>
          <a:xfrm>
            <a:off x="7186766" y="2439594"/>
            <a:ext cx="500523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zh-CN" altLang="en-US" b="1" dirty="0">
                <a:solidFill>
                  <a:srgbClr val="0F1115"/>
                </a:solidFill>
                <a:latin typeface="quote-cjk-patch"/>
              </a:rPr>
              <a:t>单文件</a:t>
            </a:r>
            <a:endParaRPr lang="en-US" altLang="zh-CN" b="1" dirty="0">
              <a:solidFill>
                <a:srgbClr val="0F1115"/>
              </a:solidFill>
              <a:latin typeface="quote-cjk-patch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78AB1F91-A7E6-4A20-3D53-356840F5FFFC}"/>
              </a:ext>
            </a:extLst>
          </p:cNvPr>
          <p:cNvSpPr txBox="1"/>
          <p:nvPr/>
        </p:nvSpPr>
        <p:spPr>
          <a:xfrm>
            <a:off x="7186766" y="3244333"/>
            <a:ext cx="500523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可编译</a:t>
            </a:r>
            <a:endParaRPr lang="zh-CN" altLang="en-US" b="0" i="0" dirty="0">
              <a:solidFill>
                <a:srgbClr val="0F1115"/>
              </a:solidFill>
              <a:effectLst/>
              <a:latin typeface="quote-cjk-patch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3C26FF17-F658-1E3B-4114-4D9519F785F8}"/>
              </a:ext>
            </a:extLst>
          </p:cNvPr>
          <p:cNvSpPr txBox="1"/>
          <p:nvPr/>
        </p:nvSpPr>
        <p:spPr>
          <a:xfrm>
            <a:off x="7186766" y="4049072"/>
            <a:ext cx="500523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zh-CN" altLang="en-US" b="1" dirty="0">
                <a:solidFill>
                  <a:srgbClr val="0F1115"/>
                </a:solidFill>
                <a:latin typeface="quote-cjk-patch"/>
              </a:rPr>
              <a:t>函数内</a:t>
            </a:r>
            <a:endParaRPr lang="zh-CN" altLang="en-US" b="0" i="0" dirty="0">
              <a:solidFill>
                <a:srgbClr val="0F1115"/>
              </a:solidFill>
              <a:effectLst/>
              <a:latin typeface="quote-cjk-patch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497542D6-DA4D-9C40-9795-A1B4E8D713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6482" y="1674998"/>
            <a:ext cx="5444378" cy="33781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73326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126435-39C3-F067-B2B9-3BCF66E51F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5027FB75-6A24-47A0-B349-96CAA7DD01A2}"/>
              </a:ext>
            </a:extLst>
          </p:cNvPr>
          <p:cNvSpPr txBox="1"/>
          <p:nvPr/>
        </p:nvSpPr>
        <p:spPr>
          <a:xfrm>
            <a:off x="393700" y="438150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latin typeface="+mn-ea"/>
              </a:rPr>
              <a:t>筛选规则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BB1D401C-D16E-699F-F3B4-B26A53E47FC4}"/>
              </a:ext>
            </a:extLst>
          </p:cNvPr>
          <p:cNvSpPr txBox="1"/>
          <p:nvPr/>
        </p:nvSpPr>
        <p:spPr>
          <a:xfrm>
            <a:off x="7186766" y="2439594"/>
            <a:ext cx="500523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zh-CN" altLang="en-US" b="1" dirty="0">
                <a:solidFill>
                  <a:srgbClr val="0F1115"/>
                </a:solidFill>
                <a:latin typeface="quote-cjk-patch"/>
              </a:rPr>
              <a:t>单文件</a:t>
            </a:r>
            <a:endParaRPr lang="en-US" altLang="zh-CN" b="1" dirty="0">
              <a:solidFill>
                <a:srgbClr val="0F1115"/>
              </a:solidFill>
              <a:latin typeface="quote-cjk-patch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96C4D5EA-7370-AB1F-B8B1-0E1235F3A169}"/>
              </a:ext>
            </a:extLst>
          </p:cNvPr>
          <p:cNvSpPr txBox="1"/>
          <p:nvPr/>
        </p:nvSpPr>
        <p:spPr>
          <a:xfrm>
            <a:off x="7186766" y="3059667"/>
            <a:ext cx="60947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20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en-US" altLang="zh-CN" b="0" i="0" dirty="0">
                <a:solidFill>
                  <a:srgbClr val="0F1115"/>
                </a:solidFill>
                <a:effectLst/>
                <a:latin typeface="quote-cjk-patch"/>
              </a:rPr>
              <a:t>patch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修改的代码位置在一个文件内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727A3F54-F9AB-CBA9-C235-516E1C282593}"/>
              </a:ext>
            </a:extLst>
          </p:cNvPr>
          <p:cNvSpPr txBox="1"/>
          <p:nvPr/>
        </p:nvSpPr>
        <p:spPr>
          <a:xfrm>
            <a:off x="7186766" y="3679740"/>
            <a:ext cx="60947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200"/>
              </a:spcBef>
              <a:spcAft>
                <a:spcPts val="1200"/>
              </a:spcAft>
            </a:pPr>
            <a:r>
              <a:rPr lang="en-US" altLang="zh-CN" b="0" i="0" dirty="0">
                <a:solidFill>
                  <a:srgbClr val="0F1115"/>
                </a:solidFill>
                <a:effectLst/>
                <a:latin typeface="quote-cjk-patch"/>
              </a:rPr>
              <a:t>2.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可以对单文件进行编译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5D9C567B-3AD0-2AD5-BD33-FF8CA4AAFA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6482" y="1674998"/>
            <a:ext cx="5444378" cy="33781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3995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FC9A5C-160B-F832-5C40-F0F09616E3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3A13A95D-83EA-B3D7-105A-72E2D58887FB}"/>
              </a:ext>
            </a:extLst>
          </p:cNvPr>
          <p:cNvSpPr txBox="1"/>
          <p:nvPr/>
        </p:nvSpPr>
        <p:spPr>
          <a:xfrm>
            <a:off x="393700" y="438150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latin typeface="+mn-ea"/>
              </a:rPr>
              <a:t>筛选规则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01190D64-FF21-9DC6-60E4-15FC9FEBEC62}"/>
              </a:ext>
            </a:extLst>
          </p:cNvPr>
          <p:cNvSpPr txBox="1"/>
          <p:nvPr/>
        </p:nvSpPr>
        <p:spPr>
          <a:xfrm>
            <a:off x="7186766" y="2439594"/>
            <a:ext cx="500523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zh-CN" altLang="en-US" b="1" dirty="0">
                <a:solidFill>
                  <a:srgbClr val="0F1115"/>
                </a:solidFill>
                <a:latin typeface="quote-cjk-patch"/>
              </a:rPr>
              <a:t>单文件</a:t>
            </a:r>
            <a:endParaRPr lang="en-US" altLang="zh-CN" b="1" dirty="0">
              <a:solidFill>
                <a:srgbClr val="0F1115"/>
              </a:solidFill>
              <a:latin typeface="quote-cjk-patch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438A22C5-0BCB-F164-C278-6E1297F0CC6C}"/>
              </a:ext>
            </a:extLst>
          </p:cNvPr>
          <p:cNvSpPr txBox="1"/>
          <p:nvPr/>
        </p:nvSpPr>
        <p:spPr>
          <a:xfrm>
            <a:off x="7186766" y="3059667"/>
            <a:ext cx="60947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20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en-US" altLang="zh-CN" b="0" i="0" dirty="0">
                <a:solidFill>
                  <a:srgbClr val="0F1115"/>
                </a:solidFill>
                <a:effectLst/>
                <a:latin typeface="quote-cjk-patch"/>
              </a:rPr>
              <a:t>patch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修改的代码位置在一个文件内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C0E13ED1-E0B3-FD68-BC2D-4F015735397D}"/>
              </a:ext>
            </a:extLst>
          </p:cNvPr>
          <p:cNvSpPr txBox="1"/>
          <p:nvPr/>
        </p:nvSpPr>
        <p:spPr>
          <a:xfrm>
            <a:off x="7186766" y="3679740"/>
            <a:ext cx="60947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200"/>
              </a:spcBef>
              <a:spcAft>
                <a:spcPts val="1200"/>
              </a:spcAft>
            </a:pPr>
            <a:r>
              <a:rPr lang="en-US" altLang="zh-CN" b="0" i="0" dirty="0">
                <a:solidFill>
                  <a:srgbClr val="0F1115"/>
                </a:solidFill>
                <a:effectLst/>
                <a:latin typeface="quote-cjk-patch"/>
              </a:rPr>
              <a:t>2.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可以对单文件进行编译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F1880613-156C-E5C7-FC0B-23A36DF63CA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4071" y="1094991"/>
            <a:ext cx="4787562" cy="53248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42591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1D7FDF-2F51-15A4-2C94-02AC6785EF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965F84C6-B406-321E-5492-AC355E2252F8}"/>
              </a:ext>
            </a:extLst>
          </p:cNvPr>
          <p:cNvSpPr txBox="1"/>
          <p:nvPr/>
        </p:nvSpPr>
        <p:spPr>
          <a:xfrm>
            <a:off x="393700" y="438150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latin typeface="+mn-ea"/>
              </a:rPr>
              <a:t>筛选规则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E0B259F7-07E0-8289-389B-9D7061106959}"/>
              </a:ext>
            </a:extLst>
          </p:cNvPr>
          <p:cNvSpPr txBox="1"/>
          <p:nvPr/>
        </p:nvSpPr>
        <p:spPr>
          <a:xfrm>
            <a:off x="7186766" y="2439594"/>
            <a:ext cx="500523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可编译</a:t>
            </a:r>
            <a:endParaRPr lang="zh-CN" altLang="en-US" b="0" i="0" dirty="0">
              <a:solidFill>
                <a:srgbClr val="0F1115"/>
              </a:solidFill>
              <a:effectLst/>
              <a:latin typeface="quote-cjk-patch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52752A09-CB05-97EF-0D31-4922BC28BE68}"/>
              </a:ext>
            </a:extLst>
          </p:cNvPr>
          <p:cNvSpPr txBox="1"/>
          <p:nvPr/>
        </p:nvSpPr>
        <p:spPr>
          <a:xfrm>
            <a:off x="7186766" y="3059667"/>
            <a:ext cx="60947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20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使用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quote-cjk-patch"/>
              </a:rPr>
              <a:t>clang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对</a:t>
            </a:r>
            <a:r>
              <a:rPr lang="zh-CN" altLang="en-US" dirty="0">
                <a:solidFill>
                  <a:srgbClr val="0F1115"/>
                </a:solidFill>
                <a:latin typeface="quote-cjk-patch"/>
              </a:rPr>
              <a:t>函数生成</a:t>
            </a:r>
            <a:r>
              <a:rPr lang="en-US" altLang="zh-CN" dirty="0">
                <a:solidFill>
                  <a:srgbClr val="0F1115"/>
                </a:solidFill>
                <a:latin typeface="quote-cjk-patch"/>
              </a:rPr>
              <a:t>CFG</a:t>
            </a:r>
            <a:r>
              <a:rPr lang="zh-CN" altLang="en-US" dirty="0">
                <a:solidFill>
                  <a:srgbClr val="0F1115"/>
                </a:solidFill>
                <a:latin typeface="quote-cjk-patch"/>
              </a:rPr>
              <a:t>需要编译</a:t>
            </a:r>
            <a:endParaRPr lang="zh-CN" altLang="en-US" b="0" i="0" dirty="0">
              <a:solidFill>
                <a:srgbClr val="0F1115"/>
              </a:solidFill>
              <a:effectLst/>
              <a:latin typeface="quote-cjk-patch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3CD9D8E1-D526-9543-11D3-7EB827ED1F6A}"/>
              </a:ext>
            </a:extLst>
          </p:cNvPr>
          <p:cNvSpPr txBox="1"/>
          <p:nvPr/>
        </p:nvSpPr>
        <p:spPr>
          <a:xfrm>
            <a:off x="7186766" y="3679740"/>
            <a:ext cx="60947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200"/>
              </a:spcBef>
              <a:spcAft>
                <a:spcPts val="1200"/>
              </a:spcAft>
            </a:pPr>
            <a:r>
              <a:rPr lang="en-US" altLang="zh-CN" b="0" i="0" dirty="0">
                <a:solidFill>
                  <a:srgbClr val="0F1115"/>
                </a:solidFill>
                <a:effectLst/>
                <a:latin typeface="quote-cjk-patch"/>
              </a:rPr>
              <a:t>2.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使用</a:t>
            </a:r>
            <a:r>
              <a:rPr lang="en-US" altLang="zh-CN" b="0" i="0" dirty="0" err="1">
                <a:solidFill>
                  <a:srgbClr val="0F1115"/>
                </a:solidFill>
                <a:effectLst/>
                <a:latin typeface="quote-cjk-patch"/>
              </a:rPr>
              <a:t>codeql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对文件生成数据库需要编译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B6091CD5-86F3-E324-F5EE-AF29D4B6FC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6482" y="1674998"/>
            <a:ext cx="5444378" cy="33781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89021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099FEB-01BD-3EB4-DF77-0B0FF7443F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3B357E88-58A4-6046-6D7F-C06271F3E349}"/>
              </a:ext>
            </a:extLst>
          </p:cNvPr>
          <p:cNvSpPr txBox="1"/>
          <p:nvPr/>
        </p:nvSpPr>
        <p:spPr>
          <a:xfrm>
            <a:off x="393700" y="438150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latin typeface="+mn-ea"/>
              </a:rPr>
              <a:t>筛选规则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B5AE5A3-4E23-9911-586B-B6C1EE9574EC}"/>
              </a:ext>
            </a:extLst>
          </p:cNvPr>
          <p:cNvSpPr txBox="1"/>
          <p:nvPr/>
        </p:nvSpPr>
        <p:spPr>
          <a:xfrm>
            <a:off x="7186766" y="2439594"/>
            <a:ext cx="500523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可编译</a:t>
            </a:r>
            <a:endParaRPr lang="zh-CN" altLang="en-US" b="0" i="0" dirty="0">
              <a:solidFill>
                <a:srgbClr val="0F1115"/>
              </a:solidFill>
              <a:effectLst/>
              <a:latin typeface="quote-cjk-patch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7077AFF6-358E-0A0A-B617-45F854A5CD3A}"/>
              </a:ext>
            </a:extLst>
          </p:cNvPr>
          <p:cNvSpPr txBox="1"/>
          <p:nvPr/>
        </p:nvSpPr>
        <p:spPr>
          <a:xfrm>
            <a:off x="7186766" y="3059667"/>
            <a:ext cx="60947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20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使用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quote-cjk-patch"/>
              </a:rPr>
              <a:t>clang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对</a:t>
            </a:r>
            <a:r>
              <a:rPr lang="zh-CN" altLang="en-US" dirty="0">
                <a:solidFill>
                  <a:srgbClr val="0F1115"/>
                </a:solidFill>
                <a:latin typeface="quote-cjk-patch"/>
              </a:rPr>
              <a:t>函数生成</a:t>
            </a:r>
            <a:r>
              <a:rPr lang="en-US" altLang="zh-CN" dirty="0">
                <a:solidFill>
                  <a:srgbClr val="0F1115"/>
                </a:solidFill>
                <a:latin typeface="quote-cjk-patch"/>
              </a:rPr>
              <a:t>CFG</a:t>
            </a:r>
            <a:r>
              <a:rPr lang="zh-CN" altLang="en-US" dirty="0">
                <a:solidFill>
                  <a:srgbClr val="0F1115"/>
                </a:solidFill>
                <a:latin typeface="quote-cjk-patch"/>
              </a:rPr>
              <a:t>需要编译</a:t>
            </a:r>
            <a:endParaRPr lang="zh-CN" altLang="en-US" b="0" i="0" dirty="0">
              <a:solidFill>
                <a:srgbClr val="0F1115"/>
              </a:solidFill>
              <a:effectLst/>
              <a:latin typeface="quote-cjk-patch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721681BD-F4DE-9DC6-28D5-B8FB33067EC7}"/>
              </a:ext>
            </a:extLst>
          </p:cNvPr>
          <p:cNvSpPr txBox="1"/>
          <p:nvPr/>
        </p:nvSpPr>
        <p:spPr>
          <a:xfrm>
            <a:off x="7186766" y="3679740"/>
            <a:ext cx="60947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200"/>
              </a:spcBef>
              <a:spcAft>
                <a:spcPts val="1200"/>
              </a:spcAft>
            </a:pPr>
            <a:r>
              <a:rPr lang="en-US" altLang="zh-CN" b="0" i="0" dirty="0">
                <a:solidFill>
                  <a:srgbClr val="0F1115"/>
                </a:solidFill>
                <a:effectLst/>
                <a:latin typeface="quote-cjk-patch"/>
              </a:rPr>
              <a:t>2.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使用</a:t>
            </a:r>
            <a:r>
              <a:rPr lang="en-US" altLang="zh-CN" b="0" i="0" dirty="0" err="1">
                <a:solidFill>
                  <a:srgbClr val="0F1115"/>
                </a:solidFill>
                <a:effectLst/>
                <a:latin typeface="quote-cjk-patch"/>
              </a:rPr>
              <a:t>codeql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对文件生成数据库需要编译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C11BCA5F-EEA7-393C-03C5-4424D1AB71D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24684"/>
          <a:stretch>
            <a:fillRect/>
          </a:stretch>
        </p:blipFill>
        <p:spPr>
          <a:xfrm>
            <a:off x="523567" y="987414"/>
            <a:ext cx="5943601" cy="54324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38238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9B5897-1F58-E25B-5DB9-63F02B0AB6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25139CBE-8179-EB2F-E348-23F677607783}"/>
              </a:ext>
            </a:extLst>
          </p:cNvPr>
          <p:cNvSpPr txBox="1"/>
          <p:nvPr/>
        </p:nvSpPr>
        <p:spPr>
          <a:xfrm>
            <a:off x="393700" y="438150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latin typeface="+mn-ea"/>
              </a:rPr>
              <a:t>筛选规则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52B12718-5496-9EB0-C88F-E418721D1F71}"/>
              </a:ext>
            </a:extLst>
          </p:cNvPr>
          <p:cNvSpPr txBox="1"/>
          <p:nvPr/>
        </p:nvSpPr>
        <p:spPr>
          <a:xfrm>
            <a:off x="7186766" y="2439594"/>
            <a:ext cx="500523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zh-CN" altLang="en-US" b="1" dirty="0">
                <a:solidFill>
                  <a:srgbClr val="0F1115"/>
                </a:solidFill>
                <a:latin typeface="quote-cjk-patch"/>
              </a:rPr>
              <a:t>函数内</a:t>
            </a:r>
            <a:endParaRPr lang="zh-CN" altLang="en-US" b="0" i="0" dirty="0">
              <a:solidFill>
                <a:srgbClr val="0F1115"/>
              </a:solidFill>
              <a:effectLst/>
              <a:latin typeface="quote-cjk-patch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C4FAC1A7-003C-E685-EDC6-EB059FE138A1}"/>
              </a:ext>
            </a:extLst>
          </p:cNvPr>
          <p:cNvSpPr txBox="1"/>
          <p:nvPr/>
        </p:nvSpPr>
        <p:spPr>
          <a:xfrm>
            <a:off x="7186766" y="3428999"/>
            <a:ext cx="60947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200"/>
              </a:spcBef>
              <a:spcAft>
                <a:spcPts val="1200"/>
              </a:spcAft>
            </a:pP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暂不支持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quote-cjk-patch"/>
              </a:rPr>
              <a:t>patch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变更语句不在函数内的情况</a:t>
            </a:r>
            <a:endParaRPr lang="en-US" altLang="zh-CN" b="0" i="0" dirty="0">
              <a:solidFill>
                <a:srgbClr val="0F1115"/>
              </a:solidFill>
              <a:effectLst/>
              <a:latin typeface="quote-cjk-patch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4A28930B-83C1-D805-DC42-4F255353DC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6482" y="1674998"/>
            <a:ext cx="5444378" cy="33781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131495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BAA42D-AC51-1EC7-B288-B38300ED12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6DA4B339-2698-0EE3-C976-7232D5E17CA4}"/>
              </a:ext>
            </a:extLst>
          </p:cNvPr>
          <p:cNvSpPr txBox="1"/>
          <p:nvPr/>
        </p:nvSpPr>
        <p:spPr>
          <a:xfrm>
            <a:off x="393700" y="438150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latin typeface="+mn-ea"/>
              </a:rPr>
              <a:t>筛选规则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1995D12-FE8E-1246-4C42-C9730E39AC6C}"/>
              </a:ext>
            </a:extLst>
          </p:cNvPr>
          <p:cNvSpPr txBox="1"/>
          <p:nvPr/>
        </p:nvSpPr>
        <p:spPr>
          <a:xfrm>
            <a:off x="7186766" y="2439594"/>
            <a:ext cx="500523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zh-CN" altLang="en-US" b="1" dirty="0">
                <a:solidFill>
                  <a:srgbClr val="0F1115"/>
                </a:solidFill>
                <a:latin typeface="quote-cjk-patch"/>
              </a:rPr>
              <a:t>函数内</a:t>
            </a:r>
            <a:endParaRPr lang="zh-CN" altLang="en-US" b="0" i="0" dirty="0">
              <a:solidFill>
                <a:srgbClr val="0F1115"/>
              </a:solidFill>
              <a:effectLst/>
              <a:latin typeface="quote-cjk-patch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AE7900B7-FA0B-EE51-E936-712413D665E1}"/>
              </a:ext>
            </a:extLst>
          </p:cNvPr>
          <p:cNvSpPr txBox="1"/>
          <p:nvPr/>
        </p:nvSpPr>
        <p:spPr>
          <a:xfrm>
            <a:off x="7186766" y="3428999"/>
            <a:ext cx="60947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200"/>
              </a:spcBef>
              <a:spcAft>
                <a:spcPts val="1200"/>
              </a:spcAft>
            </a:pP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暂不支持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quote-cjk-patch"/>
              </a:rPr>
              <a:t>patch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变更语句不在函数内的情况</a:t>
            </a:r>
            <a:endParaRPr lang="en-US" altLang="zh-CN" b="0" i="0" dirty="0">
              <a:solidFill>
                <a:srgbClr val="0F1115"/>
              </a:solidFill>
              <a:effectLst/>
              <a:latin typeface="quote-cjk-patch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13FBAB2E-E466-A10C-8C3F-06ABCEBAFF5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993" y="1916972"/>
            <a:ext cx="6562773" cy="28765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128953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C229DC-C348-99E9-1134-2999484385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A8899EE1-2286-A87E-3467-D3893E45801E}"/>
              </a:ext>
            </a:extLst>
          </p:cNvPr>
          <p:cNvSpPr txBox="1"/>
          <p:nvPr/>
        </p:nvSpPr>
        <p:spPr>
          <a:xfrm>
            <a:off x="393700" y="438150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latin typeface="+mn-ea"/>
              </a:rPr>
              <a:t>筛选规则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A4E15F0-AAA7-C45F-8FD5-8E4D409251FB}"/>
              </a:ext>
            </a:extLst>
          </p:cNvPr>
          <p:cNvSpPr txBox="1"/>
          <p:nvPr/>
        </p:nvSpPr>
        <p:spPr>
          <a:xfrm>
            <a:off x="7186766" y="1376994"/>
            <a:ext cx="500523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可编译</a:t>
            </a:r>
            <a:endParaRPr lang="zh-CN" altLang="en-US" b="0" i="0" dirty="0">
              <a:solidFill>
                <a:srgbClr val="0F1115"/>
              </a:solidFill>
              <a:effectLst/>
              <a:latin typeface="quote-cjk-patch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C205C017-C9AA-0A58-7ACC-C61B184FE3CB}"/>
              </a:ext>
            </a:extLst>
          </p:cNvPr>
          <p:cNvSpPr txBox="1"/>
          <p:nvPr/>
        </p:nvSpPr>
        <p:spPr>
          <a:xfrm>
            <a:off x="7186766" y="1997067"/>
            <a:ext cx="60947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20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使用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quote-cjk-patch"/>
              </a:rPr>
              <a:t>clang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对</a:t>
            </a:r>
            <a:r>
              <a:rPr lang="zh-CN" altLang="en-US" dirty="0">
                <a:solidFill>
                  <a:srgbClr val="0F1115"/>
                </a:solidFill>
                <a:latin typeface="quote-cjk-patch"/>
              </a:rPr>
              <a:t>函数生成</a:t>
            </a:r>
            <a:r>
              <a:rPr lang="en-US" altLang="zh-CN" dirty="0">
                <a:solidFill>
                  <a:srgbClr val="0F1115"/>
                </a:solidFill>
                <a:latin typeface="quote-cjk-patch"/>
              </a:rPr>
              <a:t>CFG</a:t>
            </a:r>
            <a:r>
              <a:rPr lang="zh-CN" altLang="en-US" dirty="0">
                <a:solidFill>
                  <a:srgbClr val="0F1115"/>
                </a:solidFill>
                <a:latin typeface="quote-cjk-patch"/>
              </a:rPr>
              <a:t>需要编译</a:t>
            </a:r>
            <a:endParaRPr lang="zh-CN" altLang="en-US" b="0" i="0" dirty="0">
              <a:solidFill>
                <a:srgbClr val="0F1115"/>
              </a:solidFill>
              <a:effectLst/>
              <a:latin typeface="quote-cjk-patch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9E1379D1-2A64-A24D-826F-4BB07162110E}"/>
              </a:ext>
            </a:extLst>
          </p:cNvPr>
          <p:cNvSpPr txBox="1"/>
          <p:nvPr/>
        </p:nvSpPr>
        <p:spPr>
          <a:xfrm>
            <a:off x="7186766" y="2617140"/>
            <a:ext cx="60947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200"/>
              </a:spcBef>
              <a:spcAft>
                <a:spcPts val="1200"/>
              </a:spcAft>
            </a:pPr>
            <a:r>
              <a:rPr lang="en-US" altLang="zh-CN" b="0" i="0" dirty="0">
                <a:solidFill>
                  <a:srgbClr val="0F1115"/>
                </a:solidFill>
                <a:effectLst/>
                <a:latin typeface="quote-cjk-patch"/>
              </a:rPr>
              <a:t>2.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使用</a:t>
            </a:r>
            <a:r>
              <a:rPr lang="en-US" altLang="zh-CN" b="0" i="0" dirty="0" err="1">
                <a:solidFill>
                  <a:srgbClr val="0F1115"/>
                </a:solidFill>
                <a:effectLst/>
                <a:latin typeface="quote-cjk-patch"/>
              </a:rPr>
              <a:t>codeql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对文件生成数据库需要编译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2A8EC48F-3CCB-6DF2-9F82-643B127D2758}"/>
              </a:ext>
            </a:extLst>
          </p:cNvPr>
          <p:cNvSpPr txBox="1"/>
          <p:nvPr/>
        </p:nvSpPr>
        <p:spPr>
          <a:xfrm>
            <a:off x="482190" y="1561660"/>
            <a:ext cx="7009991" cy="423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</a:pPr>
            <a:r>
              <a:rPr lang="en-US" altLang="zh-CN" dirty="0">
                <a:solidFill>
                  <a:srgbClr val="A31515"/>
                </a:solidFill>
                <a:latin typeface="Consolas" panose="020B0609020204030204" pitchFamily="49" charset="0"/>
              </a:rPr>
              <a:t>git checkout –f </a:t>
            </a:r>
            <a:r>
              <a:rPr lang="en-US" altLang="zh-CN" dirty="0" err="1">
                <a:solidFill>
                  <a:srgbClr val="A31515"/>
                </a:solidFill>
                <a:latin typeface="Consolas" panose="020B0609020204030204" pitchFamily="49" charset="0"/>
              </a:rPr>
              <a:t>commit_hash</a:t>
            </a:r>
            <a:endParaRPr lang="en-US" altLang="zh-CN" dirty="0">
              <a:solidFill>
                <a:srgbClr val="A31515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US" altLang="zh-CN" b="0" dirty="0">
              <a:solidFill>
                <a:srgbClr val="A31515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US" altLang="zh-CN" dirty="0">
              <a:solidFill>
                <a:srgbClr val="A31515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US" altLang="zh-CN" dirty="0">
                <a:solidFill>
                  <a:srgbClr val="A31515"/>
                </a:solidFill>
                <a:latin typeface="Consolas" panose="020B0609020204030204" pitchFamily="49" charset="0"/>
              </a:rPr>
              <a:t>[STEP 1/3] </a:t>
            </a:r>
            <a:r>
              <a:rPr lang="zh-CN" altLang="en-US" dirty="0">
                <a:solidFill>
                  <a:srgbClr val="A31515"/>
                </a:solidFill>
                <a:latin typeface="Consolas" panose="020B0609020204030204" pitchFamily="49" charset="0"/>
              </a:rPr>
              <a:t>生成 </a:t>
            </a:r>
            <a:r>
              <a:rPr lang="en-US" altLang="zh-CN" dirty="0" err="1">
                <a:solidFill>
                  <a:srgbClr val="A31515"/>
                </a:solidFill>
                <a:latin typeface="Consolas" panose="020B0609020204030204" pitchFamily="49" charset="0"/>
              </a:rPr>
              <a:t>compile_commands.json</a:t>
            </a:r>
            <a:r>
              <a:rPr lang="en-US" altLang="zh-CN" dirty="0">
                <a:solidFill>
                  <a:srgbClr val="A31515"/>
                </a:solidFill>
                <a:latin typeface="Consolas" panose="020B0609020204030204" pitchFamily="49" charset="0"/>
              </a:rPr>
              <a:t>,</a:t>
            </a:r>
            <a:r>
              <a:rPr lang="zh-CN" altLang="en-US" dirty="0">
                <a:solidFill>
                  <a:srgbClr val="A31515"/>
                </a:solidFill>
                <a:latin typeface="Consolas" panose="020B0609020204030204" pitchFamily="49" charset="0"/>
              </a:rPr>
              <a:t>流程</a:t>
            </a:r>
            <a:r>
              <a:rPr lang="en-US" altLang="zh-CN" dirty="0">
                <a:solidFill>
                  <a:srgbClr val="A31515"/>
                </a:solidFill>
                <a:latin typeface="Consolas" panose="020B0609020204030204" pitchFamily="49" charset="0"/>
              </a:rPr>
              <a:t>:</a:t>
            </a:r>
          </a:p>
          <a:p>
            <a:pPr>
              <a:lnSpc>
                <a:spcPts val="1425"/>
              </a:lnSpc>
              <a:buNone/>
            </a:pPr>
            <a:endParaRPr lang="zh-CN" altLang="en-US" dirty="0">
              <a:solidFill>
                <a:srgbClr val="A31515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zh-CN" dirty="0">
                <a:solidFill>
                  <a:srgbClr val="A31515"/>
                </a:solidFill>
                <a:latin typeface="Consolas" panose="020B0609020204030204" pitchFamily="49" charset="0"/>
              </a:rPr>
              <a:t>1) make clean</a:t>
            </a:r>
          </a:p>
          <a:p>
            <a:pPr>
              <a:lnSpc>
                <a:spcPts val="1425"/>
              </a:lnSpc>
              <a:buNone/>
            </a:pPr>
            <a:endParaRPr lang="en-US" altLang="zh-CN" dirty="0">
              <a:solidFill>
                <a:srgbClr val="A31515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zh-CN" dirty="0">
                <a:solidFill>
                  <a:srgbClr val="A31515"/>
                </a:solidFill>
                <a:latin typeface="Consolas" panose="020B0609020204030204" pitchFamily="49" charset="0"/>
              </a:rPr>
              <a:t>2) make </a:t>
            </a:r>
            <a:r>
              <a:rPr lang="en-US" altLang="zh-CN" dirty="0" err="1">
                <a:solidFill>
                  <a:srgbClr val="A31515"/>
                </a:solidFill>
                <a:latin typeface="Consolas" panose="020B0609020204030204" pitchFamily="49" charset="0"/>
              </a:rPr>
              <a:t>defconfig</a:t>
            </a:r>
            <a:endParaRPr lang="en-US" altLang="zh-CN" dirty="0">
              <a:solidFill>
                <a:srgbClr val="A31515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US" altLang="zh-C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zh-C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3) ./scripts/config --file .config -e CONFIG_XXX</a:t>
            </a:r>
          </a:p>
          <a:p>
            <a:pPr>
              <a:lnSpc>
                <a:spcPts val="1425"/>
              </a:lnSpc>
              <a:buNone/>
            </a:pPr>
            <a:endParaRPr lang="en-US" altLang="zh-C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zh-C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4) make </a:t>
            </a:r>
            <a:r>
              <a:rPr lang="en-US" altLang="zh-CN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olddefconfig</a:t>
            </a:r>
            <a:endParaRPr lang="en-US" altLang="zh-CN" b="0" dirty="0">
              <a:solidFill>
                <a:srgbClr val="A31515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US" altLang="zh-C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zh-C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5) make prepare</a:t>
            </a:r>
          </a:p>
          <a:p>
            <a:pPr>
              <a:lnSpc>
                <a:spcPts val="1425"/>
              </a:lnSpc>
              <a:buNone/>
            </a:pPr>
            <a:endParaRPr lang="en-US" altLang="zh-C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zh-CN" dirty="0">
                <a:solidFill>
                  <a:srgbClr val="A31515"/>
                </a:solidFill>
                <a:latin typeface="Consolas" panose="020B0609020204030204" pitchFamily="49" charset="0"/>
              </a:rPr>
              <a:t>6) bear -- make CC=clang LLVM=1 &lt;</a:t>
            </a:r>
            <a:r>
              <a:rPr lang="en-US" altLang="zh-CN" dirty="0" err="1">
                <a:solidFill>
                  <a:srgbClr val="A31515"/>
                </a:solidFill>
                <a:latin typeface="Consolas" panose="020B0609020204030204" pitchFamily="49" charset="0"/>
              </a:rPr>
              <a:t>target_obj</a:t>
            </a:r>
            <a:r>
              <a:rPr lang="en-US" altLang="zh-CN" dirty="0">
                <a:solidFill>
                  <a:srgbClr val="A31515"/>
                </a:solidFill>
                <a:latin typeface="Consolas" panose="020B0609020204030204" pitchFamily="49" charset="0"/>
              </a:rPr>
              <a:t>&gt;</a:t>
            </a:r>
          </a:p>
          <a:p>
            <a:pPr>
              <a:lnSpc>
                <a:spcPts val="1425"/>
              </a:lnSpc>
              <a:buNone/>
            </a:pPr>
            <a:endParaRPr lang="en-US" altLang="zh-CN" dirty="0">
              <a:solidFill>
                <a:srgbClr val="A31515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US" altLang="zh-CN" dirty="0">
              <a:solidFill>
                <a:srgbClr val="A31515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US" altLang="zh-CN" dirty="0">
                <a:solidFill>
                  <a:srgbClr val="A31515"/>
                </a:solidFill>
                <a:latin typeface="Consolas" panose="020B0609020204030204" pitchFamily="49" charset="0"/>
              </a:rPr>
              <a:t>[STEP 2/3] </a:t>
            </a:r>
            <a:r>
              <a:rPr lang="zh-CN" altLang="en-US" dirty="0">
                <a:solidFill>
                  <a:srgbClr val="A31515"/>
                </a:solidFill>
                <a:latin typeface="Consolas" panose="020B0609020204030204" pitchFamily="49" charset="0"/>
              </a:rPr>
              <a:t>调用 </a:t>
            </a:r>
            <a:r>
              <a:rPr lang="en-US" altLang="zh-CN" dirty="0" err="1">
                <a:solidFill>
                  <a:srgbClr val="A31515"/>
                </a:solidFill>
                <a:latin typeface="Consolas" panose="020B0609020204030204" pitchFamily="49" charset="0"/>
              </a:rPr>
              <a:t>cfg_builder</a:t>
            </a:r>
            <a:r>
              <a:rPr lang="en-US" altLang="zh-CN" dirty="0">
                <a:solidFill>
                  <a:srgbClr val="A31515"/>
                </a:solidFill>
                <a:latin typeface="Consolas" panose="020B0609020204030204" pitchFamily="49" charset="0"/>
              </a:rPr>
              <a:t> </a:t>
            </a:r>
            <a:r>
              <a:rPr lang="zh-CN" altLang="en-US" dirty="0">
                <a:solidFill>
                  <a:srgbClr val="A31515"/>
                </a:solidFill>
                <a:latin typeface="Consolas" panose="020B0609020204030204" pitchFamily="49" charset="0"/>
              </a:rPr>
              <a:t>生成 </a:t>
            </a:r>
            <a:r>
              <a:rPr lang="en-US" altLang="zh-CN" dirty="0">
                <a:solidFill>
                  <a:srgbClr val="A31515"/>
                </a:solidFill>
                <a:latin typeface="Consolas" panose="020B0609020204030204" pitchFamily="49" charset="0"/>
              </a:rPr>
              <a:t>AST/CFG</a:t>
            </a:r>
          </a:p>
          <a:p>
            <a:pPr>
              <a:lnSpc>
                <a:spcPts val="1425"/>
              </a:lnSpc>
              <a:buNone/>
            </a:pPr>
            <a:endParaRPr lang="en-US" altLang="zh-CN" dirty="0">
              <a:solidFill>
                <a:srgbClr val="A31515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US" altLang="zh-CN" dirty="0">
              <a:solidFill>
                <a:srgbClr val="A31515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US" altLang="zh-CN" dirty="0">
                <a:solidFill>
                  <a:srgbClr val="A31515"/>
                </a:solidFill>
                <a:latin typeface="Consolas" panose="020B0609020204030204" pitchFamily="49" charset="0"/>
              </a:rPr>
              <a:t>[STEP 3/3] </a:t>
            </a:r>
            <a:r>
              <a:rPr lang="zh-CN" altLang="en-US" dirty="0">
                <a:solidFill>
                  <a:srgbClr val="A31515"/>
                </a:solidFill>
                <a:latin typeface="Consolas" panose="020B0609020204030204" pitchFamily="49" charset="0"/>
              </a:rPr>
              <a:t>保存</a:t>
            </a:r>
            <a:r>
              <a:rPr lang="en-US" altLang="zh-CN" dirty="0">
                <a:solidFill>
                  <a:srgbClr val="A31515"/>
                </a:solidFill>
                <a:latin typeface="Consolas" panose="020B0609020204030204" pitchFamily="49" charset="0"/>
              </a:rPr>
              <a:t>CFG</a:t>
            </a:r>
          </a:p>
          <a:p>
            <a:pPr>
              <a:lnSpc>
                <a:spcPts val="1425"/>
              </a:lnSpc>
              <a:buNone/>
            </a:pPr>
            <a:endParaRPr lang="en-US" altLang="zh-C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AA1CE5C4-4ADD-5E7B-3E1F-5408096B6CCA}"/>
              </a:ext>
            </a:extLst>
          </p:cNvPr>
          <p:cNvSpPr txBox="1"/>
          <p:nvPr/>
        </p:nvSpPr>
        <p:spPr>
          <a:xfrm>
            <a:off x="7186766" y="3909354"/>
            <a:ext cx="6640460" cy="14300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00"/>
              </a:lnSpc>
              <a:spcBef>
                <a:spcPts val="2400"/>
              </a:spcBef>
              <a:spcAft>
                <a:spcPts val="1200"/>
              </a:spcAft>
              <a:buNone/>
            </a:pPr>
            <a:r>
              <a:rPr lang="zh-CN" altLang="en-US" b="1" dirty="0">
                <a:solidFill>
                  <a:srgbClr val="0F1115"/>
                </a:solidFill>
                <a:effectLst/>
                <a:latin typeface="quote-cjk-patch"/>
              </a:rPr>
              <a:t>原因</a:t>
            </a:r>
            <a:r>
              <a:rPr lang="en-US" altLang="zh-CN" b="1" dirty="0">
                <a:solidFill>
                  <a:srgbClr val="0F1115"/>
                </a:solidFill>
                <a:effectLst/>
                <a:latin typeface="quote-cjk-patch"/>
              </a:rPr>
              <a:t>1</a:t>
            </a:r>
            <a:r>
              <a:rPr lang="zh-CN" altLang="en-US" b="1" dirty="0">
                <a:solidFill>
                  <a:srgbClr val="0F1115"/>
                </a:solidFill>
                <a:effectLst/>
                <a:latin typeface="quote-cjk-patch"/>
              </a:rPr>
              <a:t>：内核配置不正确</a:t>
            </a:r>
            <a:endParaRPr lang="en-US" altLang="zh-CN" b="1" dirty="0">
              <a:solidFill>
                <a:srgbClr val="0F1115"/>
              </a:solidFill>
              <a:effectLst/>
              <a:latin typeface="quote-cjk-patch"/>
            </a:endParaRPr>
          </a:p>
          <a:p>
            <a:pPr>
              <a:lnSpc>
                <a:spcPts val="1000"/>
              </a:lnSpc>
              <a:spcBef>
                <a:spcPts val="2400"/>
              </a:spcBef>
              <a:spcAft>
                <a:spcPts val="1200"/>
              </a:spcAft>
            </a:pPr>
            <a:r>
              <a:rPr lang="zh-CN" altLang="en-US" b="1" dirty="0"/>
              <a:t>原因</a:t>
            </a:r>
            <a:r>
              <a:rPr lang="en-US" altLang="zh-CN" b="1" dirty="0"/>
              <a:t>2</a:t>
            </a:r>
            <a:r>
              <a:rPr lang="zh-CN" altLang="en-US" b="1" dirty="0"/>
              <a:t>：内核版本问题</a:t>
            </a:r>
          </a:p>
          <a:p>
            <a:pPr>
              <a:lnSpc>
                <a:spcPts val="1000"/>
              </a:lnSpc>
              <a:spcBef>
                <a:spcPts val="2400"/>
              </a:spcBef>
              <a:spcAft>
                <a:spcPts val="1200"/>
              </a:spcAft>
            </a:pPr>
            <a:r>
              <a:rPr lang="zh-CN" altLang="en-US" b="1" dirty="0"/>
              <a:t>原因</a:t>
            </a:r>
            <a:r>
              <a:rPr lang="en-US" altLang="zh-CN" b="1" dirty="0"/>
              <a:t>3</a:t>
            </a:r>
            <a:r>
              <a:rPr lang="zh-CN" altLang="en-US" b="1" dirty="0"/>
              <a:t>：头文件路径问题</a:t>
            </a:r>
          </a:p>
        </p:txBody>
      </p:sp>
    </p:spTree>
    <p:extLst>
      <p:ext uri="{BB962C8B-B14F-4D97-AF65-F5344CB8AC3E}">
        <p14:creationId xmlns:p14="http://schemas.microsoft.com/office/powerpoint/2010/main" val="318963759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789AD9-6FE6-1DB9-6292-9C631410F3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874B2435-26D3-0C99-7FAE-044BE0CA383E}"/>
              </a:ext>
            </a:extLst>
          </p:cNvPr>
          <p:cNvSpPr txBox="1"/>
          <p:nvPr/>
        </p:nvSpPr>
        <p:spPr>
          <a:xfrm>
            <a:off x="4020574" y="1958934"/>
            <a:ext cx="4150852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5400" b="1" dirty="0"/>
              <a:t>DSL</a:t>
            </a:r>
            <a:r>
              <a:rPr lang="zh-CN" altLang="en-US" sz="5400" b="1" dirty="0"/>
              <a:t>生成部分设计</a:t>
            </a:r>
          </a:p>
        </p:txBody>
      </p:sp>
    </p:spTree>
    <p:extLst>
      <p:ext uri="{BB962C8B-B14F-4D97-AF65-F5344CB8AC3E}">
        <p14:creationId xmlns:p14="http://schemas.microsoft.com/office/powerpoint/2010/main" val="292108544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05A094-21F9-0B9F-6392-49BA66C73E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46FCBFF7-D41E-38E0-12A2-397E2D918E24}"/>
              </a:ext>
            </a:extLst>
          </p:cNvPr>
          <p:cNvSpPr txBox="1"/>
          <p:nvPr/>
        </p:nvSpPr>
        <p:spPr>
          <a:xfrm>
            <a:off x="393700" y="438150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latin typeface="+mn-ea"/>
              </a:rPr>
              <a:t>补丁处理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7F847110-03DB-EF12-8EFB-12D3EEFAF28C}"/>
              </a:ext>
            </a:extLst>
          </p:cNvPr>
          <p:cNvSpPr txBox="1"/>
          <p:nvPr/>
        </p:nvSpPr>
        <p:spPr>
          <a:xfrm>
            <a:off x="393700" y="1566355"/>
            <a:ext cx="1800493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/>
              <a:t>读取基本信息：</a:t>
            </a:r>
            <a:endParaRPr lang="en-US" altLang="zh-CN" b="1" dirty="0"/>
          </a:p>
          <a:p>
            <a:endParaRPr lang="en-US" altLang="zh-CN" dirty="0"/>
          </a:p>
          <a:p>
            <a:r>
              <a:rPr lang="en-US" altLang="zh-CN" dirty="0"/>
              <a:t>CVE_NAME</a:t>
            </a:r>
          </a:p>
          <a:p>
            <a:r>
              <a:rPr lang="en-US" altLang="zh-CN" dirty="0"/>
              <a:t>COMMIT_HASH</a:t>
            </a:r>
          </a:p>
          <a:p>
            <a:r>
              <a:rPr lang="en-US" altLang="zh-CN" dirty="0"/>
              <a:t>FILE</a:t>
            </a:r>
            <a:endParaRPr lang="zh-CN" altLang="en-US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38B4AB8E-294D-4448-A80E-2950DB749D78}"/>
              </a:ext>
            </a:extLst>
          </p:cNvPr>
          <p:cNvSpPr txBox="1"/>
          <p:nvPr/>
        </p:nvSpPr>
        <p:spPr>
          <a:xfrm>
            <a:off x="3307735" y="1566355"/>
            <a:ext cx="1338828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/>
              <a:t>切换版本：</a:t>
            </a:r>
            <a:endParaRPr lang="en-US" altLang="zh-CN" b="1" dirty="0"/>
          </a:p>
          <a:p>
            <a:endParaRPr lang="en-US" altLang="zh-CN" dirty="0"/>
          </a:p>
          <a:p>
            <a:r>
              <a:rPr lang="en-US" altLang="zh-CN" dirty="0"/>
              <a:t>OLD_FILE</a:t>
            </a:r>
          </a:p>
          <a:p>
            <a:r>
              <a:rPr lang="en-US" altLang="zh-CN" dirty="0"/>
              <a:t>NEW_FILE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6C62637B-853F-33C8-1157-65196773347D}"/>
              </a:ext>
            </a:extLst>
          </p:cNvPr>
          <p:cNvSpPr txBox="1"/>
          <p:nvPr/>
        </p:nvSpPr>
        <p:spPr>
          <a:xfrm>
            <a:off x="393700" y="4647351"/>
            <a:ext cx="3090911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 err="1"/>
              <a:t>Treesitter</a:t>
            </a:r>
            <a:r>
              <a:rPr lang="en-US" altLang="zh-CN" b="1" dirty="0"/>
              <a:t>-c</a:t>
            </a:r>
            <a:r>
              <a:rPr lang="zh-CN" altLang="en-US" b="1" dirty="0"/>
              <a:t>生成预处理</a:t>
            </a:r>
            <a:r>
              <a:rPr lang="en-US" altLang="zh-CN" b="1" dirty="0" err="1"/>
              <a:t>ast</a:t>
            </a:r>
            <a:r>
              <a:rPr lang="zh-CN" altLang="en-US" b="1" dirty="0"/>
              <a:t>：</a:t>
            </a:r>
            <a:endParaRPr lang="en-US" altLang="zh-CN" b="1" dirty="0"/>
          </a:p>
          <a:p>
            <a:endParaRPr lang="en-US" altLang="zh-CN" dirty="0"/>
          </a:p>
          <a:p>
            <a:r>
              <a:rPr lang="en-US" altLang="zh-CN" dirty="0"/>
              <a:t>OLD_AST</a:t>
            </a:r>
          </a:p>
          <a:p>
            <a:r>
              <a:rPr lang="en-US" altLang="zh-CN" dirty="0"/>
              <a:t>NEW_AST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22243115-170A-8536-28C2-32F14344B3F3}"/>
              </a:ext>
            </a:extLst>
          </p:cNvPr>
          <p:cNvSpPr txBox="1"/>
          <p:nvPr/>
        </p:nvSpPr>
        <p:spPr>
          <a:xfrm>
            <a:off x="3307735" y="4647351"/>
            <a:ext cx="338265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/>
              <a:t>根据</a:t>
            </a:r>
            <a:r>
              <a:rPr lang="en-US" altLang="zh-CN" b="1" dirty="0" err="1"/>
              <a:t>ast</a:t>
            </a:r>
            <a:r>
              <a:rPr lang="zh-CN" altLang="en-US" b="1" dirty="0"/>
              <a:t>与</a:t>
            </a:r>
            <a:r>
              <a:rPr lang="en-US" altLang="zh-CN" b="1" dirty="0"/>
              <a:t>patch</a:t>
            </a:r>
            <a:r>
              <a:rPr lang="zh-CN" altLang="en-US" b="1" dirty="0"/>
              <a:t>，得到相关函数</a:t>
            </a:r>
            <a:endParaRPr lang="en-US" altLang="zh-CN" b="1" dirty="0"/>
          </a:p>
          <a:p>
            <a:endParaRPr lang="en-US" altLang="zh-CN" dirty="0"/>
          </a:p>
          <a:p>
            <a:r>
              <a:rPr lang="en-US" altLang="zh-CN" dirty="0" err="1"/>
              <a:t>function_names</a:t>
            </a:r>
            <a:endParaRPr lang="en-US" altLang="zh-CN" dirty="0"/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36414C6A-0FB6-BFE0-1648-DE676F1B449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00853" y="961370"/>
            <a:ext cx="5724525" cy="3343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847158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1F9CB9-1294-F419-6CEE-B7942AF7E2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44B02A4E-9FA7-6AFC-0813-F5C9061E1164}"/>
              </a:ext>
            </a:extLst>
          </p:cNvPr>
          <p:cNvSpPr txBox="1"/>
          <p:nvPr/>
        </p:nvSpPr>
        <p:spPr>
          <a:xfrm>
            <a:off x="393700" y="438150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latin typeface="+mn-ea"/>
              </a:rPr>
              <a:t>代码融合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E3FE5901-F447-53DD-ACD5-465B98BEBDDB}"/>
              </a:ext>
            </a:extLst>
          </p:cNvPr>
          <p:cNvSpPr txBox="1"/>
          <p:nvPr/>
        </p:nvSpPr>
        <p:spPr>
          <a:xfrm>
            <a:off x="393700" y="1526458"/>
            <a:ext cx="1925527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/>
              <a:t>根据</a:t>
            </a:r>
            <a:r>
              <a:rPr lang="en-US" altLang="zh-CN" b="1" dirty="0"/>
              <a:t>patch</a:t>
            </a:r>
            <a:r>
              <a:rPr lang="zh-CN" altLang="en-US" b="1" dirty="0"/>
              <a:t>解析：</a:t>
            </a:r>
            <a:endParaRPr lang="en-US" altLang="zh-CN" b="1" dirty="0"/>
          </a:p>
          <a:p>
            <a:endParaRPr lang="en-US" altLang="zh-CN" dirty="0"/>
          </a:p>
          <a:p>
            <a:r>
              <a:rPr lang="en-US" altLang="zh-CN" dirty="0"/>
              <a:t>-</a:t>
            </a:r>
            <a:r>
              <a:rPr lang="zh-CN" altLang="en-US" dirty="0"/>
              <a:t>闭包</a:t>
            </a:r>
            <a:endParaRPr lang="en-US" altLang="zh-CN" dirty="0"/>
          </a:p>
          <a:p>
            <a:r>
              <a:rPr lang="en-US" altLang="zh-CN" dirty="0"/>
              <a:t>+</a:t>
            </a:r>
            <a:r>
              <a:rPr lang="zh-CN" altLang="en-US" dirty="0"/>
              <a:t>闭包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0970DAED-B418-DE57-9F55-6B4AE12B51D2}"/>
              </a:ext>
            </a:extLst>
          </p:cNvPr>
          <p:cNvSpPr txBox="1"/>
          <p:nvPr/>
        </p:nvSpPr>
        <p:spPr>
          <a:xfrm>
            <a:off x="6096000" y="1526457"/>
            <a:ext cx="3656770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/>
              <a:t>融合与嵌入：</a:t>
            </a:r>
            <a:endParaRPr lang="en-US" altLang="zh-CN" b="1" dirty="0"/>
          </a:p>
          <a:p>
            <a:endParaRPr lang="en-US" altLang="zh-CN" dirty="0"/>
          </a:p>
          <a:p>
            <a:r>
              <a:rPr lang="zh-CN" altLang="en-US" dirty="0"/>
              <a:t>将</a:t>
            </a:r>
            <a:r>
              <a:rPr lang="en-US" altLang="zh-CN" dirty="0"/>
              <a:t>+</a:t>
            </a:r>
            <a:r>
              <a:rPr lang="zh-CN" altLang="en-US" dirty="0"/>
              <a:t>闭包自底向上插入到</a:t>
            </a:r>
            <a:r>
              <a:rPr lang="en-US" altLang="zh-CN" dirty="0"/>
              <a:t>old</a:t>
            </a:r>
            <a:r>
              <a:rPr lang="zh-CN" altLang="en-US" dirty="0"/>
              <a:t>文件中</a:t>
            </a:r>
            <a:endParaRPr lang="en-US" altLang="zh-CN" dirty="0"/>
          </a:p>
          <a:p>
            <a:r>
              <a:rPr lang="zh-CN" altLang="en-US" dirty="0"/>
              <a:t>遇到</a:t>
            </a:r>
            <a:r>
              <a:rPr lang="en-US" altLang="zh-CN" dirty="0"/>
              <a:t>-</a:t>
            </a:r>
            <a:r>
              <a:rPr lang="zh-CN" altLang="en-US" dirty="0"/>
              <a:t>闭包则退避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C9810C15-FC7A-DA92-8CB1-A2E1141F86FD}"/>
              </a:ext>
            </a:extLst>
          </p:cNvPr>
          <p:cNvSpPr txBox="1"/>
          <p:nvPr/>
        </p:nvSpPr>
        <p:spPr>
          <a:xfrm>
            <a:off x="393700" y="4463844"/>
            <a:ext cx="5493812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/>
              <a:t>目的与避险：</a:t>
            </a:r>
            <a:endParaRPr lang="en-US" altLang="zh-CN" b="1" dirty="0"/>
          </a:p>
          <a:p>
            <a:endParaRPr lang="en-US" altLang="zh-CN" dirty="0"/>
          </a:p>
          <a:p>
            <a:r>
              <a:rPr lang="zh-CN" altLang="en-US" dirty="0"/>
              <a:t>在切片过程中，同时包含新增与删除语句的上下文。</a:t>
            </a:r>
            <a:endParaRPr lang="en-US" altLang="zh-CN" dirty="0"/>
          </a:p>
          <a:p>
            <a:r>
              <a:rPr lang="zh-CN" altLang="en-US" dirty="0"/>
              <a:t>闭包插入，规避语法错误。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F02D530-BE9A-9239-E239-1D4947DD3858}"/>
              </a:ext>
            </a:extLst>
          </p:cNvPr>
          <p:cNvSpPr txBox="1"/>
          <p:nvPr/>
        </p:nvSpPr>
        <p:spPr>
          <a:xfrm>
            <a:off x="6096000" y="4408213"/>
            <a:ext cx="1338828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/>
              <a:t>增加风险：</a:t>
            </a:r>
            <a:endParaRPr lang="en-US" altLang="zh-CN" b="1" dirty="0"/>
          </a:p>
          <a:p>
            <a:endParaRPr lang="en-US" altLang="zh-CN" dirty="0"/>
          </a:p>
          <a:p>
            <a:r>
              <a:rPr lang="zh-CN" altLang="en-US" dirty="0"/>
              <a:t>语义错误</a:t>
            </a:r>
          </a:p>
        </p:txBody>
      </p:sp>
    </p:spTree>
    <p:extLst>
      <p:ext uri="{BB962C8B-B14F-4D97-AF65-F5344CB8AC3E}">
        <p14:creationId xmlns:p14="http://schemas.microsoft.com/office/powerpoint/2010/main" val="80506190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0C2999-BC79-F6E9-662F-0D5AC10549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BB56E476-2396-0E77-A23C-CAD4FBFFB65C}"/>
              </a:ext>
            </a:extLst>
          </p:cNvPr>
          <p:cNvSpPr txBox="1"/>
          <p:nvPr/>
        </p:nvSpPr>
        <p:spPr>
          <a:xfrm>
            <a:off x="393700" y="438150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latin typeface="+mn-ea"/>
              </a:rPr>
              <a:t>代码融合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31A0E07B-3756-DA6B-A48E-DA89A7CD71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7305" y="1237156"/>
            <a:ext cx="5515015" cy="5076862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CC9F348C-8152-3277-6B2D-B4604C95501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1237155"/>
            <a:ext cx="4303244" cy="50768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722027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3CD515-5857-BA66-9B5B-034F841BD9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F2D0DF24-EC2F-14EA-80F4-9B9D3ADC96B4}"/>
              </a:ext>
            </a:extLst>
          </p:cNvPr>
          <p:cNvSpPr txBox="1"/>
          <p:nvPr/>
        </p:nvSpPr>
        <p:spPr>
          <a:xfrm>
            <a:off x="393700" y="438150"/>
            <a:ext cx="263405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latin typeface="+mn-ea"/>
              </a:rPr>
              <a:t>编译与</a:t>
            </a:r>
            <a:r>
              <a:rPr lang="en-US" altLang="zh-CN" sz="2800" b="1" dirty="0">
                <a:latin typeface="+mn-ea"/>
              </a:rPr>
              <a:t>CFG</a:t>
            </a:r>
            <a:r>
              <a:rPr lang="zh-CN" altLang="en-US" sz="2800" b="1" dirty="0">
                <a:latin typeface="+mn-ea"/>
              </a:rPr>
              <a:t>生成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D2CD7FB5-5189-7F2A-6F88-E3402B2A0580}"/>
              </a:ext>
            </a:extLst>
          </p:cNvPr>
          <p:cNvSpPr txBox="1"/>
          <p:nvPr/>
        </p:nvSpPr>
        <p:spPr>
          <a:xfrm>
            <a:off x="393700" y="1526458"/>
            <a:ext cx="5078634" cy="28982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生成编译命令文件：</a:t>
            </a:r>
            <a:endParaRPr lang="en-US" altLang="zh-CN" dirty="0"/>
          </a:p>
          <a:p>
            <a:endParaRPr lang="en-US" altLang="zh-CN" dirty="0"/>
          </a:p>
          <a:p>
            <a:pPr>
              <a:lnSpc>
                <a:spcPts val="1425"/>
              </a:lnSpc>
              <a:buNone/>
            </a:pPr>
            <a:r>
              <a:rPr lang="en-US" altLang="zh-CN" dirty="0"/>
              <a:t>1) make clean</a:t>
            </a:r>
          </a:p>
          <a:p>
            <a:pPr>
              <a:lnSpc>
                <a:spcPts val="1425"/>
              </a:lnSpc>
              <a:buNone/>
            </a:pPr>
            <a:endParaRPr lang="en-US" altLang="zh-CN" dirty="0"/>
          </a:p>
          <a:p>
            <a:pPr>
              <a:lnSpc>
                <a:spcPts val="1425"/>
              </a:lnSpc>
              <a:buNone/>
            </a:pPr>
            <a:r>
              <a:rPr lang="en-US" altLang="zh-CN" dirty="0"/>
              <a:t>2) make </a:t>
            </a:r>
            <a:r>
              <a:rPr lang="en-US" altLang="zh-CN" dirty="0" err="1"/>
              <a:t>defconfig</a:t>
            </a:r>
            <a:endParaRPr lang="en-US" altLang="zh-CN" dirty="0"/>
          </a:p>
          <a:p>
            <a:pPr>
              <a:lnSpc>
                <a:spcPts val="1425"/>
              </a:lnSpc>
              <a:buNone/>
            </a:pPr>
            <a:endParaRPr lang="en-US" altLang="zh-CN" dirty="0"/>
          </a:p>
          <a:p>
            <a:pPr>
              <a:lnSpc>
                <a:spcPts val="1425"/>
              </a:lnSpc>
              <a:buNone/>
            </a:pPr>
            <a:r>
              <a:rPr lang="en-US" altLang="zh-CN" dirty="0"/>
              <a:t>3) ./scripts/config --file .config -e CONFIG_XXX</a:t>
            </a:r>
          </a:p>
          <a:p>
            <a:pPr>
              <a:lnSpc>
                <a:spcPts val="1425"/>
              </a:lnSpc>
              <a:buNone/>
            </a:pPr>
            <a:endParaRPr lang="en-US" altLang="zh-CN" dirty="0"/>
          </a:p>
          <a:p>
            <a:pPr>
              <a:lnSpc>
                <a:spcPts val="1425"/>
              </a:lnSpc>
              <a:buNone/>
            </a:pPr>
            <a:r>
              <a:rPr lang="en-US" altLang="zh-CN" dirty="0"/>
              <a:t>4) make </a:t>
            </a:r>
            <a:r>
              <a:rPr lang="en-US" altLang="zh-CN" dirty="0" err="1"/>
              <a:t>olddefconfig</a:t>
            </a:r>
            <a:endParaRPr lang="en-US" altLang="zh-CN" dirty="0"/>
          </a:p>
          <a:p>
            <a:pPr>
              <a:lnSpc>
                <a:spcPts val="1425"/>
              </a:lnSpc>
              <a:buNone/>
            </a:pPr>
            <a:endParaRPr lang="en-US" altLang="zh-CN" dirty="0"/>
          </a:p>
          <a:p>
            <a:pPr>
              <a:lnSpc>
                <a:spcPts val="1425"/>
              </a:lnSpc>
              <a:buNone/>
            </a:pPr>
            <a:r>
              <a:rPr lang="en-US" altLang="zh-CN" dirty="0"/>
              <a:t>5) make prepare</a:t>
            </a:r>
          </a:p>
          <a:p>
            <a:pPr>
              <a:lnSpc>
                <a:spcPts val="1425"/>
              </a:lnSpc>
              <a:buNone/>
            </a:pPr>
            <a:endParaRPr lang="en-US" altLang="zh-CN" dirty="0"/>
          </a:p>
          <a:p>
            <a:pPr>
              <a:lnSpc>
                <a:spcPts val="1425"/>
              </a:lnSpc>
              <a:buNone/>
            </a:pPr>
            <a:r>
              <a:rPr lang="en-US" altLang="zh-CN" dirty="0"/>
              <a:t>6) bear -- make CC=clang LLVM=1 &lt;</a:t>
            </a:r>
            <a:r>
              <a:rPr lang="en-US" altLang="zh-CN" dirty="0" err="1"/>
              <a:t>target_obj</a:t>
            </a:r>
            <a:r>
              <a:rPr lang="en-US" altLang="zh-CN" dirty="0"/>
              <a:t>&gt;</a:t>
            </a:r>
          </a:p>
          <a:p>
            <a:endParaRPr lang="zh-CN" altLang="en-US" dirty="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7D0D978F-8938-23A3-4ECD-6123B427EE2A}"/>
              </a:ext>
            </a:extLst>
          </p:cNvPr>
          <p:cNvSpPr txBox="1"/>
          <p:nvPr/>
        </p:nvSpPr>
        <p:spPr>
          <a:xfrm>
            <a:off x="6096000" y="1526458"/>
            <a:ext cx="3743332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生成</a:t>
            </a:r>
            <a:r>
              <a:rPr lang="en-US" altLang="zh-CN" dirty="0"/>
              <a:t>CFG</a:t>
            </a:r>
            <a:r>
              <a:rPr lang="zh-CN" altLang="en-US" dirty="0"/>
              <a:t>：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调用</a:t>
            </a:r>
            <a:r>
              <a:rPr lang="en-US" altLang="zh-CN" dirty="0" err="1"/>
              <a:t>cfg_builder</a:t>
            </a:r>
            <a:endParaRPr lang="en-US" altLang="zh-CN" dirty="0"/>
          </a:p>
          <a:p>
            <a:r>
              <a:rPr lang="zh-CN" altLang="en-US" dirty="0"/>
              <a:t>生成便于解析的</a:t>
            </a:r>
            <a:r>
              <a:rPr lang="en-US" altLang="zh-CN" dirty="0" err="1"/>
              <a:t>ast</a:t>
            </a:r>
            <a:r>
              <a:rPr lang="zh-CN" altLang="en-US" dirty="0"/>
              <a:t>、</a:t>
            </a:r>
            <a:r>
              <a:rPr lang="en-US" altLang="zh-CN" dirty="0" err="1"/>
              <a:t>cfg</a:t>
            </a:r>
            <a:endParaRPr lang="en-US" altLang="zh-CN" dirty="0"/>
          </a:p>
          <a:p>
            <a:r>
              <a:rPr lang="zh-CN" altLang="en-US" dirty="0"/>
              <a:t>以及自定义用于辅助</a:t>
            </a:r>
            <a:r>
              <a:rPr lang="en-US" altLang="zh-CN" dirty="0"/>
              <a:t>defuse</a:t>
            </a:r>
            <a:r>
              <a:rPr lang="zh-CN" altLang="en-US" dirty="0"/>
              <a:t>分析的</a:t>
            </a:r>
            <a:r>
              <a:rPr lang="en-US" altLang="zh-CN" dirty="0" err="1"/>
              <a:t>ir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2527601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E34727-1B8B-DB78-C347-BE2FAB00F7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080701AF-F69A-3FA2-35B6-B1C9AD0E02A8}"/>
              </a:ext>
            </a:extLst>
          </p:cNvPr>
          <p:cNvSpPr txBox="1"/>
          <p:nvPr/>
        </p:nvSpPr>
        <p:spPr>
          <a:xfrm>
            <a:off x="393700" y="438150"/>
            <a:ext cx="414408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b="1" dirty="0">
                <a:latin typeface="+mn-ea"/>
              </a:rPr>
              <a:t>defuse</a:t>
            </a:r>
            <a:r>
              <a:rPr lang="zh-CN" altLang="en-US" sz="2800" b="1" dirty="0">
                <a:latin typeface="+mn-ea"/>
              </a:rPr>
              <a:t>切片与大模型分析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CC9AAC4A-6A86-DBE4-201E-5B278F406DC2}"/>
              </a:ext>
            </a:extLst>
          </p:cNvPr>
          <p:cNvSpPr txBox="1"/>
          <p:nvPr/>
        </p:nvSpPr>
        <p:spPr>
          <a:xfrm>
            <a:off x="393700" y="1526458"/>
            <a:ext cx="2262158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/>
              <a:t>初始</a:t>
            </a:r>
            <a:r>
              <a:rPr lang="en-US" altLang="zh-CN" b="1" dirty="0"/>
              <a:t>seed</a:t>
            </a:r>
            <a:r>
              <a:rPr lang="zh-CN" altLang="en-US" b="1" dirty="0"/>
              <a:t>构成：</a:t>
            </a:r>
            <a:endParaRPr lang="en-US" altLang="zh-CN" b="1" dirty="0"/>
          </a:p>
          <a:p>
            <a:endParaRPr lang="en-US" altLang="zh-CN" dirty="0"/>
          </a:p>
          <a:p>
            <a:r>
              <a:rPr lang="zh-CN" altLang="en-US" dirty="0"/>
              <a:t>所有变更语句中变量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E59409DC-D293-7224-B0C0-0983840779DA}"/>
              </a:ext>
            </a:extLst>
          </p:cNvPr>
          <p:cNvSpPr txBox="1"/>
          <p:nvPr/>
        </p:nvSpPr>
        <p:spPr>
          <a:xfrm>
            <a:off x="393700" y="4740842"/>
            <a:ext cx="2954655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/>
              <a:t>初步判断</a:t>
            </a:r>
            <a:r>
              <a:rPr lang="en-US" altLang="zh-CN" b="1" dirty="0"/>
              <a:t>sink</a:t>
            </a:r>
            <a:r>
              <a:rPr lang="zh-CN" altLang="en-US" b="1" dirty="0"/>
              <a:t>：</a:t>
            </a:r>
            <a:endParaRPr lang="en-US" altLang="zh-CN" b="1" dirty="0"/>
          </a:p>
          <a:p>
            <a:endParaRPr lang="en-US" altLang="zh-CN" dirty="0"/>
          </a:p>
          <a:p>
            <a:r>
              <a:rPr lang="zh-CN" altLang="en-US" dirty="0"/>
              <a:t>由漏洞信息与融合函数判断</a:t>
            </a:r>
            <a:endParaRPr lang="en-US" altLang="zh-CN" dirty="0"/>
          </a:p>
          <a:p>
            <a:r>
              <a:rPr lang="en-US" altLang="zh-CN" dirty="0"/>
              <a:t>Sink</a:t>
            </a:r>
            <a:r>
              <a:rPr lang="zh-CN" altLang="en-US" dirty="0"/>
              <a:t>语句以及变量加入</a:t>
            </a:r>
            <a:r>
              <a:rPr lang="en-US" altLang="zh-CN" dirty="0"/>
              <a:t>seed</a:t>
            </a:r>
            <a:endParaRPr lang="zh-CN" altLang="en-US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C5B7DD13-DE37-B63B-E5E4-B1C19F624184}"/>
              </a:ext>
            </a:extLst>
          </p:cNvPr>
          <p:cNvSpPr txBox="1"/>
          <p:nvPr/>
        </p:nvSpPr>
        <p:spPr>
          <a:xfrm>
            <a:off x="4346268" y="1410928"/>
            <a:ext cx="2492990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/>
              <a:t>defuse</a:t>
            </a:r>
            <a:r>
              <a:rPr lang="zh-CN" altLang="en-US" b="1" dirty="0"/>
              <a:t>分析：</a:t>
            </a:r>
            <a:endParaRPr lang="en-US" altLang="zh-CN" b="1" dirty="0"/>
          </a:p>
          <a:p>
            <a:endParaRPr lang="en-US" altLang="zh-CN" dirty="0"/>
          </a:p>
          <a:p>
            <a:r>
              <a:rPr lang="zh-CN" altLang="en-US" dirty="0"/>
              <a:t>基于每一个相关变量：</a:t>
            </a:r>
            <a:endParaRPr lang="en-US" altLang="zh-CN" dirty="0"/>
          </a:p>
          <a:p>
            <a:r>
              <a:rPr lang="zh-CN" altLang="en-US" dirty="0"/>
              <a:t>前向探索</a:t>
            </a:r>
            <a:r>
              <a:rPr lang="en-US" altLang="zh-CN" dirty="0"/>
              <a:t>use</a:t>
            </a:r>
          </a:p>
          <a:p>
            <a:r>
              <a:rPr lang="zh-CN" altLang="en-US" dirty="0"/>
              <a:t>后向探索</a:t>
            </a:r>
            <a:r>
              <a:rPr lang="en-US" altLang="zh-CN" dirty="0"/>
              <a:t>use</a:t>
            </a:r>
          </a:p>
          <a:p>
            <a:r>
              <a:rPr lang="zh-CN" altLang="en-US" dirty="0"/>
              <a:t>后向探索</a:t>
            </a:r>
            <a:r>
              <a:rPr lang="en-US" altLang="zh-CN" dirty="0"/>
              <a:t>def</a:t>
            </a:r>
            <a:endParaRPr lang="zh-CN" altLang="en-US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409A03A2-0CD1-BED4-5127-E9492B74A921}"/>
              </a:ext>
            </a:extLst>
          </p:cNvPr>
          <p:cNvSpPr txBox="1"/>
          <p:nvPr/>
        </p:nvSpPr>
        <p:spPr>
          <a:xfrm>
            <a:off x="4346268" y="3175085"/>
            <a:ext cx="2954655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/>
              <a:t>大模型分析：</a:t>
            </a:r>
            <a:endParaRPr lang="en-US" altLang="zh-CN" b="1" dirty="0"/>
          </a:p>
          <a:p>
            <a:endParaRPr lang="en-US" altLang="zh-CN" dirty="0"/>
          </a:p>
          <a:p>
            <a:r>
              <a:rPr lang="zh-CN" altLang="en-US" dirty="0"/>
              <a:t>对于探索的语句进行判断：</a:t>
            </a:r>
            <a:endParaRPr lang="en-US" altLang="zh-CN" dirty="0"/>
          </a:p>
          <a:p>
            <a:r>
              <a:rPr lang="zh-CN" altLang="en-US" dirty="0"/>
              <a:t>语句相关性</a:t>
            </a:r>
            <a:endParaRPr lang="en-US" altLang="zh-CN" dirty="0"/>
          </a:p>
          <a:p>
            <a:r>
              <a:rPr lang="zh-CN" altLang="en-US" dirty="0"/>
              <a:t>变量相关性</a:t>
            </a:r>
            <a:endParaRPr lang="en-US" altLang="zh-CN" dirty="0"/>
          </a:p>
          <a:p>
            <a:r>
              <a:rPr lang="zh-CN" altLang="en-US" dirty="0"/>
              <a:t>该语句是否为</a:t>
            </a:r>
            <a:r>
              <a:rPr lang="en-US" altLang="zh-CN" dirty="0"/>
              <a:t>sink</a:t>
            </a:r>
            <a:endParaRPr lang="zh-CN" altLang="en-US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CECC5933-EC8B-3B09-B8C2-34465E73E3EC}"/>
              </a:ext>
            </a:extLst>
          </p:cNvPr>
          <p:cNvSpPr txBox="1"/>
          <p:nvPr/>
        </p:nvSpPr>
        <p:spPr>
          <a:xfrm>
            <a:off x="393700" y="2967335"/>
            <a:ext cx="341632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/>
              <a:t>漏洞分析：</a:t>
            </a:r>
            <a:endParaRPr lang="en-US" altLang="zh-CN" b="1" dirty="0"/>
          </a:p>
          <a:p>
            <a:endParaRPr lang="en-US" altLang="zh-CN" dirty="0"/>
          </a:p>
          <a:p>
            <a:r>
              <a:rPr lang="zh-CN" altLang="en-US" dirty="0"/>
              <a:t>得到大模型对于漏洞的完整分析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32C7F31D-C44F-6C92-1F52-767B0E298AE6}"/>
              </a:ext>
            </a:extLst>
          </p:cNvPr>
          <p:cNvSpPr txBox="1"/>
          <p:nvPr/>
        </p:nvSpPr>
        <p:spPr>
          <a:xfrm>
            <a:off x="4312499" y="5009535"/>
            <a:ext cx="3567002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/>
              <a:t>Proxy sink</a:t>
            </a:r>
            <a:r>
              <a:rPr lang="zh-CN" altLang="en-US" b="1" dirty="0"/>
              <a:t>判断：</a:t>
            </a:r>
            <a:endParaRPr lang="en-US" altLang="zh-CN" b="1" dirty="0"/>
          </a:p>
          <a:p>
            <a:endParaRPr lang="en-US" altLang="zh-CN" dirty="0"/>
          </a:p>
          <a:p>
            <a:r>
              <a:rPr lang="zh-CN" altLang="en-US" dirty="0"/>
              <a:t>当整个切片流程中没有</a:t>
            </a:r>
            <a:r>
              <a:rPr lang="en-US" altLang="zh-CN" dirty="0"/>
              <a:t>sink</a:t>
            </a:r>
            <a:r>
              <a:rPr lang="zh-CN" altLang="en-US" dirty="0"/>
              <a:t>时触发</a:t>
            </a:r>
            <a:endParaRPr lang="en-US" altLang="zh-CN" dirty="0"/>
          </a:p>
          <a:p>
            <a:endParaRPr lang="zh-CN" altLang="en-US" dirty="0"/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AB23D274-878E-0F61-5DA0-2A0A347DD82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7711" y="1276350"/>
            <a:ext cx="4724400" cy="4305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033069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DB1C13-4028-C2A2-E446-F459F21F71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42642E4A-BED5-7F2C-E505-991CC0FD87D5}"/>
              </a:ext>
            </a:extLst>
          </p:cNvPr>
          <p:cNvSpPr txBox="1"/>
          <p:nvPr/>
        </p:nvSpPr>
        <p:spPr>
          <a:xfrm>
            <a:off x="393700" y="438150"/>
            <a:ext cx="198002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latin typeface="+mn-ea"/>
              </a:rPr>
              <a:t>切片转序列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BCB67720-6BCB-C5E4-FC57-F0C42752224D}"/>
              </a:ext>
            </a:extLst>
          </p:cNvPr>
          <p:cNvSpPr txBox="1"/>
          <p:nvPr/>
        </p:nvSpPr>
        <p:spPr>
          <a:xfrm>
            <a:off x="393700" y="1526458"/>
            <a:ext cx="3289683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/>
              <a:t>基于</a:t>
            </a:r>
            <a:r>
              <a:rPr lang="en-US" altLang="zh-CN" b="1" dirty="0"/>
              <a:t>CFG</a:t>
            </a:r>
            <a:r>
              <a:rPr lang="zh-CN" altLang="en-US" b="1" dirty="0"/>
              <a:t>路径输出序列</a:t>
            </a:r>
            <a:endParaRPr lang="en-US" altLang="zh-CN" b="1" dirty="0"/>
          </a:p>
          <a:p>
            <a:endParaRPr lang="en-US" altLang="zh-CN" dirty="0"/>
          </a:p>
          <a:p>
            <a:r>
              <a:rPr lang="zh-CN" altLang="en-US" dirty="0"/>
              <a:t>枚举 </a:t>
            </a:r>
            <a:r>
              <a:rPr lang="en-US" altLang="zh-CN" dirty="0"/>
              <a:t>CFG </a:t>
            </a:r>
            <a:r>
              <a:rPr lang="zh-CN" altLang="en-US" dirty="0"/>
              <a:t>路径</a:t>
            </a:r>
            <a:endParaRPr lang="en-US" altLang="zh-CN" dirty="0"/>
          </a:p>
          <a:p>
            <a:r>
              <a:rPr lang="zh-CN" altLang="en-US" dirty="0"/>
              <a:t>保留包含 </a:t>
            </a:r>
            <a:r>
              <a:rPr lang="en-US" altLang="zh-CN" dirty="0"/>
              <a:t>sink/kept </a:t>
            </a:r>
            <a:r>
              <a:rPr lang="zh-CN" altLang="en-US" dirty="0"/>
              <a:t>节点的路径</a:t>
            </a:r>
            <a:endParaRPr lang="en-US" altLang="zh-CN" dirty="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37AB830E-B2AF-4FAA-F2A1-34B598522F5D}"/>
              </a:ext>
            </a:extLst>
          </p:cNvPr>
          <p:cNvSpPr txBox="1"/>
          <p:nvPr/>
        </p:nvSpPr>
        <p:spPr>
          <a:xfrm>
            <a:off x="393700" y="2948984"/>
            <a:ext cx="290977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/>
              <a:t>根据</a:t>
            </a:r>
            <a:r>
              <a:rPr lang="en-US" altLang="zh-CN" b="1" dirty="0"/>
              <a:t>sink</a:t>
            </a:r>
            <a:r>
              <a:rPr lang="zh-CN" altLang="en-US" b="1" dirty="0"/>
              <a:t>位置进行序列截断</a:t>
            </a:r>
            <a:endParaRPr lang="en-US" altLang="zh-CN" b="1" dirty="0"/>
          </a:p>
          <a:p>
            <a:endParaRPr lang="en-US" altLang="zh-CN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785FA526-5586-9F29-970B-44292EE32500}"/>
              </a:ext>
            </a:extLst>
          </p:cNvPr>
          <p:cNvSpPr txBox="1"/>
          <p:nvPr/>
        </p:nvSpPr>
        <p:spPr>
          <a:xfrm>
            <a:off x="391066" y="3595315"/>
            <a:ext cx="129394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/>
              <a:t>多</a:t>
            </a:r>
            <a:r>
              <a:rPr lang="en-US" altLang="zh-CN" b="1" dirty="0"/>
              <a:t>sink</a:t>
            </a:r>
            <a:r>
              <a:rPr lang="zh-CN" altLang="en-US" b="1" dirty="0"/>
              <a:t>模式</a:t>
            </a:r>
            <a:endParaRPr lang="en-US" altLang="zh-CN" b="1" dirty="0"/>
          </a:p>
          <a:p>
            <a:endParaRPr lang="en-US" altLang="zh-CN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AE686A49-A3C4-7046-4A30-2AE9CCA4AB12}"/>
              </a:ext>
            </a:extLst>
          </p:cNvPr>
          <p:cNvSpPr txBox="1"/>
          <p:nvPr/>
        </p:nvSpPr>
        <p:spPr>
          <a:xfrm>
            <a:off x="391066" y="4241646"/>
            <a:ext cx="2954655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/>
              <a:t>辅助信息：</a:t>
            </a:r>
            <a:endParaRPr lang="en-US" altLang="zh-CN" b="1" dirty="0"/>
          </a:p>
          <a:p>
            <a:endParaRPr lang="en-US" altLang="zh-CN" dirty="0"/>
          </a:p>
          <a:p>
            <a:r>
              <a:rPr lang="zh-CN" altLang="en-US" dirty="0"/>
              <a:t>节点中相关变量与变量类型</a:t>
            </a:r>
            <a:endParaRPr lang="en-US" altLang="zh-CN" dirty="0"/>
          </a:p>
          <a:p>
            <a:r>
              <a:rPr lang="zh-CN" altLang="en-US" dirty="0"/>
              <a:t>节点语句行号</a:t>
            </a:r>
            <a:endParaRPr lang="en-US" altLang="zh-CN" dirty="0"/>
          </a:p>
          <a:p>
            <a:r>
              <a:rPr lang="zh-CN" altLang="en-US" dirty="0"/>
              <a:t>节点语句标签映射</a:t>
            </a:r>
            <a:endParaRPr lang="en-US" altLang="zh-CN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DB8B43F6-9095-CA3C-C143-655B6163486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89323" y="1225191"/>
            <a:ext cx="7396027" cy="44076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665610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F81BD4-CE77-9223-C8C8-920372500E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12A05935-AE5B-F8B0-33C6-110E381541CA}"/>
              </a:ext>
            </a:extLst>
          </p:cNvPr>
          <p:cNvSpPr txBox="1"/>
          <p:nvPr/>
        </p:nvSpPr>
        <p:spPr>
          <a:xfrm>
            <a:off x="393700" y="438150"/>
            <a:ext cx="198002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latin typeface="+mn-ea"/>
              </a:rPr>
              <a:t>序列后处理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E2F0EBB9-23EC-FAD9-E795-2BFEEF4BF1AF}"/>
              </a:ext>
            </a:extLst>
          </p:cNvPr>
          <p:cNvSpPr txBox="1"/>
          <p:nvPr/>
        </p:nvSpPr>
        <p:spPr>
          <a:xfrm>
            <a:off x="393700" y="2686931"/>
            <a:ext cx="3704860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/>
              <a:t>序列关键变量没有来源：</a:t>
            </a:r>
            <a:endParaRPr lang="en-US" altLang="zh-CN" b="1" dirty="0"/>
          </a:p>
          <a:p>
            <a:endParaRPr lang="en-US" altLang="zh-CN" dirty="0"/>
          </a:p>
          <a:p>
            <a:r>
              <a:rPr lang="zh-CN" altLang="en-US" dirty="0"/>
              <a:t>大概率是函数入参</a:t>
            </a:r>
            <a:endParaRPr lang="en-US" altLang="zh-CN" dirty="0"/>
          </a:p>
          <a:p>
            <a:r>
              <a:rPr lang="zh-CN" altLang="en-US" dirty="0"/>
              <a:t>提示大模型判断是否需要查询</a:t>
            </a:r>
            <a:r>
              <a:rPr lang="en-US" altLang="zh-CN" dirty="0"/>
              <a:t>caller</a:t>
            </a:r>
            <a:endParaRPr lang="zh-CN" altLang="en-US" dirty="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5BAC1618-4696-86CB-5B0E-AA9B9641456B}"/>
              </a:ext>
            </a:extLst>
          </p:cNvPr>
          <p:cNvSpPr txBox="1"/>
          <p:nvPr/>
        </p:nvSpPr>
        <p:spPr>
          <a:xfrm>
            <a:off x="393700" y="4132402"/>
            <a:ext cx="5607625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/>
              <a:t>序列以</a:t>
            </a:r>
            <a:r>
              <a:rPr lang="en-US" altLang="zh-CN" b="1" dirty="0"/>
              <a:t>added</a:t>
            </a:r>
            <a:r>
              <a:rPr lang="zh-CN" altLang="en-US" b="1" dirty="0"/>
              <a:t>标签语句结尾：</a:t>
            </a:r>
            <a:endParaRPr lang="en-US" altLang="zh-CN" b="1" dirty="0"/>
          </a:p>
          <a:p>
            <a:endParaRPr lang="en-US" altLang="zh-CN" dirty="0"/>
          </a:p>
          <a:p>
            <a:r>
              <a:rPr lang="zh-CN" altLang="en-US" dirty="0"/>
              <a:t>大概率直接</a:t>
            </a:r>
            <a:r>
              <a:rPr lang="en-US" altLang="zh-CN" dirty="0"/>
              <a:t>sink</a:t>
            </a:r>
            <a:r>
              <a:rPr lang="zh-CN" altLang="en-US" dirty="0"/>
              <a:t>不在函数中</a:t>
            </a:r>
            <a:endParaRPr lang="en-US" altLang="zh-CN" dirty="0"/>
          </a:p>
          <a:p>
            <a:r>
              <a:rPr lang="zh-CN" altLang="en-US" dirty="0"/>
              <a:t>提示大模型判断规则是否需要添加</a:t>
            </a:r>
            <a:r>
              <a:rPr lang="en-US" altLang="zh-CN" dirty="0"/>
              <a:t>return</a:t>
            </a:r>
            <a:r>
              <a:rPr lang="zh-CN" altLang="en-US" dirty="0"/>
              <a:t>语句作为结尾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7A43A625-748E-AF35-A42C-6261D29F960C}"/>
              </a:ext>
            </a:extLst>
          </p:cNvPr>
          <p:cNvSpPr txBox="1"/>
          <p:nvPr/>
        </p:nvSpPr>
        <p:spPr>
          <a:xfrm>
            <a:off x="393700" y="5577873"/>
            <a:ext cx="374493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/>
              <a:t>序列</a:t>
            </a:r>
            <a:r>
              <a:rPr lang="en-US" altLang="zh-CN" b="1" dirty="0"/>
              <a:t>sink</a:t>
            </a:r>
            <a:r>
              <a:rPr lang="zh-CN" altLang="en-US" b="1" dirty="0"/>
              <a:t>为函数调用：</a:t>
            </a:r>
            <a:endParaRPr lang="en-US" altLang="zh-CN" b="1" dirty="0"/>
          </a:p>
          <a:p>
            <a:endParaRPr lang="en-US" altLang="zh-CN" dirty="0"/>
          </a:p>
          <a:p>
            <a:r>
              <a:rPr lang="zh-CN" altLang="en-US" dirty="0"/>
              <a:t>提示大模型判断是否需要查询</a:t>
            </a:r>
            <a:r>
              <a:rPr lang="en-US" altLang="zh-CN" dirty="0"/>
              <a:t>callee</a:t>
            </a:r>
            <a:endParaRPr lang="zh-CN" altLang="en-US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8941947D-FD96-B210-820D-7CA307EC7CB6}"/>
              </a:ext>
            </a:extLst>
          </p:cNvPr>
          <p:cNvSpPr txBox="1"/>
          <p:nvPr/>
        </p:nvSpPr>
        <p:spPr>
          <a:xfrm>
            <a:off x="393700" y="1455625"/>
            <a:ext cx="387798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/>
              <a:t>语句归并：</a:t>
            </a:r>
            <a:endParaRPr lang="en-US" altLang="zh-CN" b="1" dirty="0"/>
          </a:p>
          <a:p>
            <a:endParaRPr lang="en-US" altLang="zh-CN" dirty="0"/>
          </a:p>
          <a:p>
            <a:r>
              <a:rPr lang="zh-CN" altLang="en-US" dirty="0"/>
              <a:t>因为语句颗粒度问题，避免重复语句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A7A64B21-7BF4-A1C6-5082-B117006ED04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08186" y="1173111"/>
            <a:ext cx="4287634" cy="49063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323025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A2AB4F-7ED2-F1F9-34C1-699D029DCA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AC4C6D85-CEA2-5890-C8C7-99A0EF281FC8}"/>
              </a:ext>
            </a:extLst>
          </p:cNvPr>
          <p:cNvSpPr txBox="1"/>
          <p:nvPr/>
        </p:nvSpPr>
        <p:spPr>
          <a:xfrm>
            <a:off x="393700" y="438150"/>
            <a:ext cx="198002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latin typeface="+mn-ea"/>
              </a:rPr>
              <a:t>序列转规则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3547F04E-9EEC-57CD-94D3-D4D1E23E8E22}"/>
              </a:ext>
            </a:extLst>
          </p:cNvPr>
          <p:cNvSpPr txBox="1"/>
          <p:nvPr/>
        </p:nvSpPr>
        <p:spPr>
          <a:xfrm>
            <a:off x="4302023" y="1997839"/>
            <a:ext cx="4509568" cy="28623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/>
              <a:t>根据节点标签转为规则：</a:t>
            </a:r>
            <a:endParaRPr lang="en-US" altLang="zh-CN" b="1" dirty="0"/>
          </a:p>
          <a:p>
            <a:endParaRPr lang="en-US" altLang="zh-CN" dirty="0"/>
          </a:p>
          <a:p>
            <a:r>
              <a:rPr lang="zh-CN" altLang="en-US" dirty="0"/>
              <a:t>普通语句直接转 </a:t>
            </a:r>
            <a:r>
              <a:rPr lang="en-US" altLang="zh-CN" dirty="0" err="1"/>
              <a:t>SimpleRule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added/deleted </a:t>
            </a:r>
            <a:r>
              <a:rPr lang="zh-CN" altLang="en-US" dirty="0"/>
              <a:t>语句进入缓冲区</a:t>
            </a:r>
            <a:endParaRPr lang="en-US" altLang="zh-CN" dirty="0"/>
          </a:p>
          <a:p>
            <a:r>
              <a:rPr lang="zh-CN" altLang="en-US" dirty="0"/>
              <a:t>缓冲区 </a:t>
            </a:r>
            <a:r>
              <a:rPr lang="en-US" altLang="zh-CN" dirty="0"/>
              <a:t>flush </a:t>
            </a:r>
            <a:r>
              <a:rPr lang="zh-CN" altLang="en-US" dirty="0"/>
              <a:t>时生成 </a:t>
            </a:r>
            <a:r>
              <a:rPr lang="en-US" altLang="zh-CN" dirty="0"/>
              <a:t>not / and / </a:t>
            </a:r>
            <a:r>
              <a:rPr lang="zh-CN" altLang="en-US" dirty="0"/>
              <a:t>普通规则块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把 </a:t>
            </a:r>
            <a:r>
              <a:rPr lang="en-US" altLang="zh-CN" dirty="0" err="1"/>
              <a:t>var_type</a:t>
            </a:r>
            <a:r>
              <a:rPr lang="en-US" altLang="zh-CN" dirty="0"/>
              <a:t> </a:t>
            </a:r>
            <a:r>
              <a:rPr lang="zh-CN" altLang="en-US" dirty="0"/>
              <a:t>转成 </a:t>
            </a:r>
            <a:r>
              <a:rPr lang="en-US" altLang="zh-CN" dirty="0"/>
              <a:t>meta </a:t>
            </a:r>
            <a:r>
              <a:rPr lang="zh-CN" altLang="en-US" dirty="0"/>
              <a:t>声明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组装 </a:t>
            </a:r>
            <a:r>
              <a:rPr lang="en-US" altLang="zh-CN" dirty="0" err="1"/>
              <a:t>VPDLRule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13003144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451990-ED20-9F58-3D48-D142044431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99C70FD6-C6CF-92A2-69D9-387B15323798}"/>
              </a:ext>
            </a:extLst>
          </p:cNvPr>
          <p:cNvSpPr txBox="1"/>
          <p:nvPr/>
        </p:nvSpPr>
        <p:spPr>
          <a:xfrm>
            <a:off x="393700" y="438150"/>
            <a:ext cx="450315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b="1" dirty="0">
                <a:latin typeface="+mn-ea"/>
              </a:rPr>
              <a:t>VPDL</a:t>
            </a:r>
            <a:r>
              <a:rPr lang="zh-CN" altLang="en-US" sz="2800" b="1" dirty="0">
                <a:latin typeface="+mn-ea"/>
              </a:rPr>
              <a:t>到</a:t>
            </a:r>
            <a:r>
              <a:rPr lang="en-US" altLang="zh-CN" sz="2800" b="1" dirty="0" err="1">
                <a:latin typeface="+mn-ea"/>
              </a:rPr>
              <a:t>CodeQL</a:t>
            </a:r>
            <a:r>
              <a:rPr lang="zh-CN" altLang="en-US" sz="2800" b="1" dirty="0">
                <a:latin typeface="+mn-ea"/>
              </a:rPr>
              <a:t>自动化翻译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C4DDCE2E-47FC-64CC-4BE4-EAC517BE697D}"/>
              </a:ext>
            </a:extLst>
          </p:cNvPr>
          <p:cNvSpPr/>
          <p:nvPr/>
        </p:nvSpPr>
        <p:spPr>
          <a:xfrm>
            <a:off x="7683910" y="1356852"/>
            <a:ext cx="2197510" cy="693174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21D3F74B-B388-96AA-5BDF-8DA8337F72E9}"/>
              </a:ext>
            </a:extLst>
          </p:cNvPr>
          <p:cNvSpPr txBox="1"/>
          <p:nvPr/>
        </p:nvSpPr>
        <p:spPr>
          <a:xfrm>
            <a:off x="8413955" y="1519084"/>
            <a:ext cx="737419" cy="3687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VPDL</a:t>
            </a:r>
            <a:endParaRPr lang="zh-CN" altLang="en-US" b="1" dirty="0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BF8BFCB3-A68D-E990-A65B-E9940E695DF1}"/>
              </a:ext>
            </a:extLst>
          </p:cNvPr>
          <p:cNvSpPr/>
          <p:nvPr/>
        </p:nvSpPr>
        <p:spPr>
          <a:xfrm>
            <a:off x="7683908" y="3504582"/>
            <a:ext cx="2197510" cy="693174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FE57CB83-6B8C-007A-8417-CD8FFB518E3C}"/>
              </a:ext>
            </a:extLst>
          </p:cNvPr>
          <p:cNvSpPr txBox="1"/>
          <p:nvPr/>
        </p:nvSpPr>
        <p:spPr>
          <a:xfrm>
            <a:off x="8122671" y="3666814"/>
            <a:ext cx="13199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Parse Tree</a:t>
            </a:r>
            <a:endParaRPr lang="zh-CN" altLang="en-US" b="1" dirty="0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B7BCF80-A61D-9414-F07D-EE04D10D212C}"/>
              </a:ext>
            </a:extLst>
          </p:cNvPr>
          <p:cNvSpPr/>
          <p:nvPr/>
        </p:nvSpPr>
        <p:spPr>
          <a:xfrm>
            <a:off x="7683908" y="5652934"/>
            <a:ext cx="2197510" cy="693174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9CC83C8E-1D9D-5276-46BE-1C3971A20D98}"/>
              </a:ext>
            </a:extLst>
          </p:cNvPr>
          <p:cNvSpPr txBox="1"/>
          <p:nvPr/>
        </p:nvSpPr>
        <p:spPr>
          <a:xfrm>
            <a:off x="8252948" y="5812396"/>
            <a:ext cx="10594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 err="1"/>
              <a:t>CodeQL</a:t>
            </a:r>
            <a:endParaRPr lang="zh-CN" altLang="en-US" b="1" dirty="0"/>
          </a:p>
        </p:txBody>
      </p:sp>
      <p:sp>
        <p:nvSpPr>
          <p:cNvPr id="10" name="流程图: 数据 9">
            <a:extLst>
              <a:ext uri="{FF2B5EF4-FFF2-40B4-BE49-F238E27FC236}">
                <a16:creationId xmlns:a16="http://schemas.microsoft.com/office/drawing/2014/main" id="{C759943F-17BF-09A2-CB1D-C68DF99C3115}"/>
              </a:ext>
            </a:extLst>
          </p:cNvPr>
          <p:cNvSpPr/>
          <p:nvPr/>
        </p:nvSpPr>
        <p:spPr>
          <a:xfrm>
            <a:off x="7731837" y="2342184"/>
            <a:ext cx="2101647" cy="863750"/>
          </a:xfrm>
          <a:prstGeom prst="flowChartInputOutpu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0A91FCDC-ACA8-8B0A-4F89-0645B203DA2C}"/>
              </a:ext>
            </a:extLst>
          </p:cNvPr>
          <p:cNvSpPr txBox="1"/>
          <p:nvPr/>
        </p:nvSpPr>
        <p:spPr>
          <a:xfrm>
            <a:off x="8333448" y="2569893"/>
            <a:ext cx="8984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ANTLR</a:t>
            </a:r>
            <a:endParaRPr lang="zh-CN" altLang="en-US" b="1" dirty="0"/>
          </a:p>
        </p:txBody>
      </p:sp>
      <p:sp>
        <p:nvSpPr>
          <p:cNvPr id="12" name="流程图: 数据 11">
            <a:extLst>
              <a:ext uri="{FF2B5EF4-FFF2-40B4-BE49-F238E27FC236}">
                <a16:creationId xmlns:a16="http://schemas.microsoft.com/office/drawing/2014/main" id="{86608B77-AE50-2EDA-6568-DBA3919AE583}"/>
              </a:ext>
            </a:extLst>
          </p:cNvPr>
          <p:cNvSpPr/>
          <p:nvPr/>
        </p:nvSpPr>
        <p:spPr>
          <a:xfrm>
            <a:off x="7731836" y="4489914"/>
            <a:ext cx="2101647" cy="863750"/>
          </a:xfrm>
          <a:prstGeom prst="flowChartInputOutpu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EB06E81B-198B-C19C-A928-7DAD716822DE}"/>
              </a:ext>
            </a:extLst>
          </p:cNvPr>
          <p:cNvSpPr txBox="1"/>
          <p:nvPr/>
        </p:nvSpPr>
        <p:spPr>
          <a:xfrm>
            <a:off x="8170755" y="4740679"/>
            <a:ext cx="13196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Translator</a:t>
            </a:r>
            <a:endParaRPr lang="zh-CN" altLang="en-US" b="1" dirty="0"/>
          </a:p>
        </p:txBody>
      </p:sp>
      <p:cxnSp>
        <p:nvCxnSpPr>
          <p:cNvPr id="15" name="直接箭头连接符 14">
            <a:extLst>
              <a:ext uri="{FF2B5EF4-FFF2-40B4-BE49-F238E27FC236}">
                <a16:creationId xmlns:a16="http://schemas.microsoft.com/office/drawing/2014/main" id="{0D7F814C-4229-3677-CC31-D107A2432587}"/>
              </a:ext>
            </a:extLst>
          </p:cNvPr>
          <p:cNvCxnSpPr>
            <a:cxnSpLocks/>
            <a:stCxn id="2" idx="2"/>
            <a:endCxn id="10" idx="1"/>
          </p:cNvCxnSpPr>
          <p:nvPr/>
        </p:nvCxnSpPr>
        <p:spPr>
          <a:xfrm flipH="1">
            <a:off x="8782661" y="2050026"/>
            <a:ext cx="4" cy="29215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直接箭头连接符 16">
            <a:extLst>
              <a:ext uri="{FF2B5EF4-FFF2-40B4-BE49-F238E27FC236}">
                <a16:creationId xmlns:a16="http://schemas.microsoft.com/office/drawing/2014/main" id="{E11B4F58-A55E-2769-2974-CAB78CC89943}"/>
              </a:ext>
            </a:extLst>
          </p:cNvPr>
          <p:cNvCxnSpPr>
            <a:cxnSpLocks/>
          </p:cNvCxnSpPr>
          <p:nvPr/>
        </p:nvCxnSpPr>
        <p:spPr>
          <a:xfrm flipH="1">
            <a:off x="8782655" y="3205312"/>
            <a:ext cx="4" cy="29215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93E06BC0-AAFD-4F15-8FD8-723E5FECB875}"/>
              </a:ext>
            </a:extLst>
          </p:cNvPr>
          <p:cNvCxnSpPr>
            <a:cxnSpLocks/>
          </p:cNvCxnSpPr>
          <p:nvPr/>
        </p:nvCxnSpPr>
        <p:spPr>
          <a:xfrm flipH="1">
            <a:off x="8782651" y="4197756"/>
            <a:ext cx="4" cy="29215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直接箭头连接符 18">
            <a:extLst>
              <a:ext uri="{FF2B5EF4-FFF2-40B4-BE49-F238E27FC236}">
                <a16:creationId xmlns:a16="http://schemas.microsoft.com/office/drawing/2014/main" id="{CF943E27-6CDB-7EF6-ECE0-9FB929FD9592}"/>
              </a:ext>
            </a:extLst>
          </p:cNvPr>
          <p:cNvCxnSpPr>
            <a:cxnSpLocks/>
          </p:cNvCxnSpPr>
          <p:nvPr/>
        </p:nvCxnSpPr>
        <p:spPr>
          <a:xfrm flipH="1">
            <a:off x="8782647" y="5358229"/>
            <a:ext cx="4" cy="29215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文本框 19">
            <a:extLst>
              <a:ext uri="{FF2B5EF4-FFF2-40B4-BE49-F238E27FC236}">
                <a16:creationId xmlns:a16="http://schemas.microsoft.com/office/drawing/2014/main" id="{CA676473-87C6-B949-A7DD-FE7A9FC51BB3}"/>
              </a:ext>
            </a:extLst>
          </p:cNvPr>
          <p:cNvSpPr txBox="1"/>
          <p:nvPr/>
        </p:nvSpPr>
        <p:spPr>
          <a:xfrm>
            <a:off x="393700" y="1526458"/>
            <a:ext cx="3639984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/>
              <a:t>基于</a:t>
            </a:r>
            <a:r>
              <a:rPr lang="en-US" altLang="zh-CN" b="1" dirty="0"/>
              <a:t>ANTLR</a:t>
            </a:r>
            <a:r>
              <a:rPr lang="zh-CN" altLang="en-US" b="1" dirty="0"/>
              <a:t>解析</a:t>
            </a:r>
            <a:r>
              <a:rPr lang="en-US" altLang="zh-CN" b="1" dirty="0"/>
              <a:t>VPDL</a:t>
            </a:r>
          </a:p>
          <a:p>
            <a:endParaRPr lang="en-US" altLang="zh-CN" dirty="0"/>
          </a:p>
          <a:p>
            <a:r>
              <a:rPr lang="zh-CN" altLang="en-US" dirty="0"/>
              <a:t>编写词法规则 </a:t>
            </a:r>
            <a:r>
              <a:rPr lang="en-US" altLang="zh-CN" dirty="0"/>
              <a:t>VPDLLexer.g4</a:t>
            </a:r>
          </a:p>
          <a:p>
            <a:endParaRPr lang="en-US" altLang="zh-CN" dirty="0"/>
          </a:p>
          <a:p>
            <a:r>
              <a:rPr lang="zh-CN" altLang="en-US" dirty="0"/>
              <a:t>编写语法规则 </a:t>
            </a:r>
            <a:r>
              <a:rPr lang="en-US" altLang="zh-CN" dirty="0"/>
              <a:t>VPDLParser.g4</a:t>
            </a:r>
          </a:p>
          <a:p>
            <a:endParaRPr lang="en-US" altLang="zh-CN" dirty="0"/>
          </a:p>
          <a:p>
            <a:r>
              <a:rPr lang="zh-CN" altLang="en-US" dirty="0"/>
              <a:t>把</a:t>
            </a:r>
            <a:r>
              <a:rPr lang="en-US" altLang="zh-CN" dirty="0"/>
              <a:t>VPDL</a:t>
            </a:r>
            <a:r>
              <a:rPr lang="zh-CN" altLang="en-US" dirty="0"/>
              <a:t>解析成 </a:t>
            </a:r>
            <a:r>
              <a:rPr lang="en-US" altLang="zh-CN" dirty="0"/>
              <a:t>parse tree </a:t>
            </a:r>
            <a:r>
              <a:rPr lang="zh-CN" altLang="en-US" dirty="0"/>
              <a:t>形式</a:t>
            </a:r>
            <a:endParaRPr lang="en-US" altLang="zh-CN" dirty="0"/>
          </a:p>
        </p:txBody>
      </p:sp>
      <p:pic>
        <p:nvPicPr>
          <p:cNvPr id="24" name="图片 23">
            <a:extLst>
              <a:ext uri="{FF2B5EF4-FFF2-40B4-BE49-F238E27FC236}">
                <a16:creationId xmlns:a16="http://schemas.microsoft.com/office/drawing/2014/main" id="{44213790-43B9-DB24-0C44-28F691E8D5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68005" y="1389509"/>
            <a:ext cx="2537324" cy="2927682"/>
          </a:xfrm>
          <a:prstGeom prst="rect">
            <a:avLst/>
          </a:prstGeom>
        </p:spPr>
      </p:pic>
      <p:pic>
        <p:nvPicPr>
          <p:cNvPr id="26" name="图片 25">
            <a:extLst>
              <a:ext uri="{FF2B5EF4-FFF2-40B4-BE49-F238E27FC236}">
                <a16:creationId xmlns:a16="http://schemas.microsoft.com/office/drawing/2014/main" id="{C0E61CCD-BC86-4FD5-AF8C-4CC3962DCF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4247" y="4800645"/>
            <a:ext cx="5318637" cy="13810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490547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31AAF5-DD87-965A-6899-5D6792EAAC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EC27F28C-CB54-6A86-654E-3B68C4EA0139}"/>
              </a:ext>
            </a:extLst>
          </p:cNvPr>
          <p:cNvSpPr txBox="1"/>
          <p:nvPr/>
        </p:nvSpPr>
        <p:spPr>
          <a:xfrm>
            <a:off x="393700" y="438150"/>
            <a:ext cx="450315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b="1" dirty="0">
                <a:latin typeface="+mn-ea"/>
              </a:rPr>
              <a:t>VPDL</a:t>
            </a:r>
            <a:r>
              <a:rPr lang="zh-CN" altLang="en-US" sz="2800" b="1" dirty="0">
                <a:latin typeface="+mn-ea"/>
              </a:rPr>
              <a:t>到</a:t>
            </a:r>
            <a:r>
              <a:rPr lang="en-US" altLang="zh-CN" sz="2800" b="1" dirty="0" err="1">
                <a:latin typeface="+mn-ea"/>
              </a:rPr>
              <a:t>CodeQL</a:t>
            </a:r>
            <a:r>
              <a:rPr lang="zh-CN" altLang="en-US" sz="2800" b="1" dirty="0">
                <a:latin typeface="+mn-ea"/>
              </a:rPr>
              <a:t>自动化翻译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438874F4-C763-33AC-EAD8-1868B7D3F189}"/>
              </a:ext>
            </a:extLst>
          </p:cNvPr>
          <p:cNvSpPr txBox="1"/>
          <p:nvPr/>
        </p:nvSpPr>
        <p:spPr>
          <a:xfrm>
            <a:off x="393699" y="1526458"/>
            <a:ext cx="5439287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/>
              <a:t>基于控制流分析的方法来生成</a:t>
            </a:r>
            <a:r>
              <a:rPr lang="en-US" altLang="zh-CN" b="1" dirty="0" err="1"/>
              <a:t>CodeQL</a:t>
            </a:r>
            <a:endParaRPr lang="en-US" altLang="zh-CN" b="1" dirty="0"/>
          </a:p>
          <a:p>
            <a:endParaRPr lang="en-US" altLang="zh-CN" b="1" dirty="0"/>
          </a:p>
          <a:p>
            <a:r>
              <a:rPr lang="zh-CN" altLang="en-US" b="1" dirty="0"/>
              <a:t>基于</a:t>
            </a:r>
            <a:r>
              <a:rPr lang="en-US" altLang="zh-CN" b="1" dirty="0"/>
              <a:t>meta</a:t>
            </a:r>
            <a:r>
              <a:rPr lang="zh-CN" altLang="en-US" b="1" dirty="0"/>
              <a:t>声明确定</a:t>
            </a:r>
            <a:r>
              <a:rPr lang="en-US" altLang="zh-CN" b="1" dirty="0"/>
              <a:t>from</a:t>
            </a:r>
            <a:r>
              <a:rPr lang="zh-CN" altLang="en-US" b="1" dirty="0"/>
              <a:t>语句的</a:t>
            </a:r>
            <a:r>
              <a:rPr lang="en-US" altLang="zh-CN" b="1" dirty="0"/>
              <a:t>Variable</a:t>
            </a:r>
            <a:r>
              <a:rPr lang="zh-CN" altLang="en-US" b="1" dirty="0"/>
              <a:t>声明个数</a:t>
            </a:r>
            <a:endParaRPr lang="en-US" altLang="zh-CN" b="1" dirty="0"/>
          </a:p>
          <a:p>
            <a:endParaRPr lang="en-US" altLang="zh-CN" b="1" dirty="0"/>
          </a:p>
          <a:p>
            <a:endParaRPr lang="en-US" altLang="zh-CN" b="1" dirty="0"/>
          </a:p>
          <a:p>
            <a:endParaRPr lang="en-US" altLang="zh-CN" b="1" dirty="0"/>
          </a:p>
          <a:p>
            <a:endParaRPr lang="en-US" altLang="zh-CN" b="1" dirty="0"/>
          </a:p>
          <a:p>
            <a:endParaRPr lang="en-US" altLang="zh-CN" b="1" dirty="0"/>
          </a:p>
          <a:p>
            <a:r>
              <a:rPr lang="zh-CN" altLang="en-US" b="1" dirty="0"/>
              <a:t>每条语句对应两个</a:t>
            </a:r>
            <a:r>
              <a:rPr lang="en-US" altLang="zh-CN" b="1" dirty="0"/>
              <a:t>predicate</a:t>
            </a:r>
          </a:p>
          <a:p>
            <a:endParaRPr lang="en-US" altLang="zh-CN" b="1" dirty="0"/>
          </a:p>
          <a:p>
            <a:endParaRPr lang="en-US" altLang="zh-CN" b="1" dirty="0"/>
          </a:p>
          <a:p>
            <a:endParaRPr lang="en-US" altLang="zh-CN" b="1" dirty="0"/>
          </a:p>
          <a:p>
            <a:r>
              <a:rPr lang="en-US" altLang="zh-CN" dirty="0" err="1"/>
              <a:t>isStmtN</a:t>
            </a:r>
            <a:r>
              <a:rPr lang="zh-CN" altLang="en-US" dirty="0"/>
              <a:t>匹配语句的语义信息</a:t>
            </a:r>
            <a:endParaRPr lang="en-US" altLang="zh-CN" dirty="0"/>
          </a:p>
          <a:p>
            <a:r>
              <a:rPr lang="en-US" altLang="zh-CN" dirty="0" err="1"/>
              <a:t>isStmtNodeN</a:t>
            </a:r>
            <a:r>
              <a:rPr lang="zh-CN" altLang="en-US" dirty="0"/>
              <a:t>匹配语句的控制流节点</a:t>
            </a:r>
            <a:endParaRPr lang="en-US" altLang="zh-CN" dirty="0"/>
          </a:p>
          <a:p>
            <a:r>
              <a:rPr lang="zh-CN" altLang="en-US" dirty="0"/>
              <a:t>每条语句的参数声明用于传递</a:t>
            </a:r>
            <a:r>
              <a:rPr lang="en-US" altLang="zh-CN" dirty="0"/>
              <a:t>from</a:t>
            </a:r>
            <a:r>
              <a:rPr lang="zh-CN" altLang="en-US" dirty="0"/>
              <a:t>中的</a:t>
            </a:r>
            <a:r>
              <a:rPr lang="en-US" altLang="zh-CN" dirty="0"/>
              <a:t>Variable</a:t>
            </a:r>
          </a:p>
        </p:txBody>
      </p:sp>
      <p:pic>
        <p:nvPicPr>
          <p:cNvPr id="21" name="图片 20">
            <a:extLst>
              <a:ext uri="{FF2B5EF4-FFF2-40B4-BE49-F238E27FC236}">
                <a16:creationId xmlns:a16="http://schemas.microsoft.com/office/drawing/2014/main" id="{F73CB5E7-A6B6-621D-4E64-3D3EE3BF9A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966" y="3076575"/>
            <a:ext cx="5172075" cy="352425"/>
          </a:xfrm>
          <a:prstGeom prst="rect">
            <a:avLst/>
          </a:prstGeom>
        </p:spPr>
      </p:pic>
      <p:pic>
        <p:nvPicPr>
          <p:cNvPr id="23" name="图片 22">
            <a:extLst>
              <a:ext uri="{FF2B5EF4-FFF2-40B4-BE49-F238E27FC236}">
                <a16:creationId xmlns:a16="http://schemas.microsoft.com/office/drawing/2014/main" id="{2D3E5713-7348-78CB-93B6-0700F4A2188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966" y="2476989"/>
            <a:ext cx="2745509" cy="491733"/>
          </a:xfrm>
          <a:prstGeom prst="rect">
            <a:avLst/>
          </a:prstGeom>
        </p:spPr>
      </p:pic>
      <p:pic>
        <p:nvPicPr>
          <p:cNvPr id="27" name="图片 26">
            <a:extLst>
              <a:ext uri="{FF2B5EF4-FFF2-40B4-BE49-F238E27FC236}">
                <a16:creationId xmlns:a16="http://schemas.microsoft.com/office/drawing/2014/main" id="{4E6345B6-12AA-8A2A-49EF-96B6BC86514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3966" y="4142279"/>
            <a:ext cx="2790825" cy="285750"/>
          </a:xfrm>
          <a:prstGeom prst="rect">
            <a:avLst/>
          </a:prstGeom>
        </p:spPr>
      </p:pic>
      <p:pic>
        <p:nvPicPr>
          <p:cNvPr id="29" name="图片 28">
            <a:extLst>
              <a:ext uri="{FF2B5EF4-FFF2-40B4-BE49-F238E27FC236}">
                <a16:creationId xmlns:a16="http://schemas.microsoft.com/office/drawing/2014/main" id="{B5B64EC6-FE06-17C3-7B37-981ABF2E7DB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3966" y="4536664"/>
            <a:ext cx="2077175" cy="285749"/>
          </a:xfrm>
          <a:prstGeom prst="rect">
            <a:avLst/>
          </a:prstGeom>
        </p:spPr>
      </p:pic>
      <p:pic>
        <p:nvPicPr>
          <p:cNvPr id="31" name="图片 30">
            <a:extLst>
              <a:ext uri="{FF2B5EF4-FFF2-40B4-BE49-F238E27FC236}">
                <a16:creationId xmlns:a16="http://schemas.microsoft.com/office/drawing/2014/main" id="{B99946E3-2CBF-6B7F-DA40-BB4A9494236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825504" y="4522719"/>
            <a:ext cx="2287667" cy="299694"/>
          </a:xfrm>
          <a:prstGeom prst="rect">
            <a:avLst/>
          </a:prstGeom>
        </p:spPr>
      </p:pic>
      <p:pic>
        <p:nvPicPr>
          <p:cNvPr id="35" name="图片 34">
            <a:extLst>
              <a:ext uri="{FF2B5EF4-FFF2-40B4-BE49-F238E27FC236}">
                <a16:creationId xmlns:a16="http://schemas.microsoft.com/office/drawing/2014/main" id="{6E83D50E-8258-4191-4BB3-7742B546CAF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59259" y="2476989"/>
            <a:ext cx="5438775" cy="3248025"/>
          </a:xfrm>
          <a:prstGeom prst="rect">
            <a:avLst/>
          </a:prstGeom>
        </p:spPr>
      </p:pic>
      <p:sp>
        <p:nvSpPr>
          <p:cNvPr id="36" name="文本框 35">
            <a:extLst>
              <a:ext uri="{FF2B5EF4-FFF2-40B4-BE49-F238E27FC236}">
                <a16:creationId xmlns:a16="http://schemas.microsoft.com/office/drawing/2014/main" id="{01F0F49A-2FA1-9549-8B4F-547CFC652EF0}"/>
              </a:ext>
            </a:extLst>
          </p:cNvPr>
          <p:cNvSpPr txBox="1"/>
          <p:nvPr/>
        </p:nvSpPr>
        <p:spPr>
          <a:xfrm>
            <a:off x="6259259" y="1526458"/>
            <a:ext cx="46250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/>
              <a:t>用控制流节点顺序关系代表语句顺序关系</a:t>
            </a:r>
          </a:p>
        </p:txBody>
      </p:sp>
    </p:spTree>
    <p:extLst>
      <p:ext uri="{BB962C8B-B14F-4D97-AF65-F5344CB8AC3E}">
        <p14:creationId xmlns:p14="http://schemas.microsoft.com/office/powerpoint/2010/main" val="124036153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F68DC0-3831-672E-08BA-B2CF644A0A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D228EDDD-A87C-4705-7265-6A7B78A34190}"/>
              </a:ext>
            </a:extLst>
          </p:cNvPr>
          <p:cNvSpPr txBox="1"/>
          <p:nvPr/>
        </p:nvSpPr>
        <p:spPr>
          <a:xfrm>
            <a:off x="393700" y="438150"/>
            <a:ext cx="450315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b="1" dirty="0">
                <a:latin typeface="+mn-ea"/>
              </a:rPr>
              <a:t>VPDL</a:t>
            </a:r>
            <a:r>
              <a:rPr lang="zh-CN" altLang="en-US" sz="2800" b="1" dirty="0">
                <a:latin typeface="+mn-ea"/>
              </a:rPr>
              <a:t>到</a:t>
            </a:r>
            <a:r>
              <a:rPr lang="en-US" altLang="zh-CN" sz="2800" b="1" dirty="0" err="1">
                <a:latin typeface="+mn-ea"/>
              </a:rPr>
              <a:t>CodeQL</a:t>
            </a:r>
            <a:r>
              <a:rPr lang="zh-CN" altLang="en-US" sz="2800" b="1" dirty="0">
                <a:latin typeface="+mn-ea"/>
              </a:rPr>
              <a:t>自动化翻译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7C3A7F2-4A9E-5F8D-BD5B-9AE12C67E66D}"/>
              </a:ext>
            </a:extLst>
          </p:cNvPr>
          <p:cNvSpPr txBox="1"/>
          <p:nvPr/>
        </p:nvSpPr>
        <p:spPr>
          <a:xfrm>
            <a:off x="393699" y="1526458"/>
            <a:ext cx="9089514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/>
              <a:t>遍历每一条语句中已在</a:t>
            </a:r>
            <a:r>
              <a:rPr lang="en-US" altLang="zh-CN" b="1" dirty="0"/>
              <a:t>predicate</a:t>
            </a:r>
            <a:r>
              <a:rPr lang="zh-CN" altLang="en-US" b="1" dirty="0"/>
              <a:t>参量中声明的变量所在的 </a:t>
            </a:r>
            <a:r>
              <a:rPr lang="en-US" altLang="zh-CN" b="1" dirty="0"/>
              <a:t>parse tree </a:t>
            </a:r>
            <a:r>
              <a:rPr lang="zh-CN" altLang="en-US" b="1" dirty="0"/>
              <a:t>节点</a:t>
            </a:r>
            <a:endParaRPr lang="en-US" altLang="zh-CN" b="1" dirty="0"/>
          </a:p>
          <a:p>
            <a:endParaRPr lang="en-US" altLang="zh-CN" b="1" dirty="0"/>
          </a:p>
          <a:p>
            <a:endParaRPr lang="en-US" altLang="zh-CN" b="1" dirty="0"/>
          </a:p>
          <a:p>
            <a:endParaRPr lang="en-US" altLang="zh-CN" b="1" dirty="0"/>
          </a:p>
          <a:p>
            <a:endParaRPr lang="en-US" altLang="zh-CN" b="1" dirty="0"/>
          </a:p>
          <a:p>
            <a:r>
              <a:rPr lang="zh-CN" altLang="en-US" b="1" dirty="0"/>
              <a:t>根据变量所在节点信息递归地生成对应的</a:t>
            </a:r>
            <a:r>
              <a:rPr lang="en-US" altLang="zh-CN" b="1" dirty="0" err="1"/>
              <a:t>CodeQL</a:t>
            </a:r>
            <a:r>
              <a:rPr lang="zh-CN" altLang="en-US" b="1" dirty="0"/>
              <a:t>谓词，直到变量匹配上</a:t>
            </a:r>
            <a:endParaRPr lang="en-US" altLang="zh-CN" b="1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2812DCF9-2BAD-3410-ACC0-89580C6C06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135" y="2101645"/>
            <a:ext cx="5941490" cy="229148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E600F813-56A9-06B3-224E-C2860875A5B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677" y="2487088"/>
            <a:ext cx="6010275" cy="304800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36128AA6-92C3-C09E-4C89-3704D1707BF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4164" y="3291423"/>
            <a:ext cx="5610225" cy="3248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457456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83EA8C-A3E0-D4D8-9B8B-A9BB7DBB71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FFFD443B-A659-2828-6127-1E60D11A0344}"/>
              </a:ext>
            </a:extLst>
          </p:cNvPr>
          <p:cNvSpPr txBox="1"/>
          <p:nvPr/>
        </p:nvSpPr>
        <p:spPr>
          <a:xfrm>
            <a:off x="393700" y="438150"/>
            <a:ext cx="450315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b="1" dirty="0">
                <a:latin typeface="+mn-ea"/>
              </a:rPr>
              <a:t>VPDL</a:t>
            </a:r>
            <a:r>
              <a:rPr lang="zh-CN" altLang="en-US" sz="2800" b="1" dirty="0">
                <a:latin typeface="+mn-ea"/>
              </a:rPr>
              <a:t>到</a:t>
            </a:r>
            <a:r>
              <a:rPr lang="en-US" altLang="zh-CN" sz="2800" b="1" dirty="0" err="1">
                <a:latin typeface="+mn-ea"/>
              </a:rPr>
              <a:t>CodeQL</a:t>
            </a:r>
            <a:r>
              <a:rPr lang="zh-CN" altLang="en-US" sz="2800" b="1" dirty="0">
                <a:latin typeface="+mn-ea"/>
              </a:rPr>
              <a:t>自动化翻译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3F224941-6FD6-79DC-EAA7-59DAFA28BFEA}"/>
              </a:ext>
            </a:extLst>
          </p:cNvPr>
          <p:cNvSpPr txBox="1"/>
          <p:nvPr/>
        </p:nvSpPr>
        <p:spPr>
          <a:xfrm>
            <a:off x="393699" y="1526458"/>
            <a:ext cx="908951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/>
              <a:t>对于函数调用和宏调用采用平行输出 </a:t>
            </a:r>
            <a:r>
              <a:rPr lang="en-US" altLang="zh-CN" b="1" dirty="0"/>
              <a:t>or exists() </a:t>
            </a:r>
            <a:r>
              <a:rPr lang="zh-CN" altLang="en-US" b="1" dirty="0"/>
              <a:t>分支</a:t>
            </a:r>
            <a:endParaRPr lang="en-US" altLang="zh-CN" b="1" dirty="0"/>
          </a:p>
          <a:p>
            <a:endParaRPr lang="en-US" altLang="zh-CN" b="1" dirty="0"/>
          </a:p>
          <a:p>
            <a:endParaRPr lang="en-US" altLang="zh-CN" b="1" dirty="0"/>
          </a:p>
          <a:p>
            <a:endParaRPr lang="en-US" altLang="zh-CN" b="1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CEA1486E-79AB-8DBA-C7F5-82918D5C5D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1021" y="1951385"/>
            <a:ext cx="3535004" cy="4656813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965DF712-FFCC-F1C0-9757-E3DE3C2AAC26}"/>
              </a:ext>
            </a:extLst>
          </p:cNvPr>
          <p:cNvSpPr txBox="1"/>
          <p:nvPr/>
        </p:nvSpPr>
        <p:spPr>
          <a:xfrm>
            <a:off x="6096000" y="1555955"/>
            <a:ext cx="6005052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/>
              <a:t>对应的</a:t>
            </a:r>
            <a:r>
              <a:rPr lang="en-US" altLang="zh-CN" b="1" dirty="0" err="1"/>
              <a:t>isStmtNodeN</a:t>
            </a:r>
            <a:r>
              <a:rPr lang="zh-CN" altLang="en-US" b="1" dirty="0"/>
              <a:t>用于传入参数以及与控制流节点匹配</a:t>
            </a:r>
            <a:endParaRPr lang="en-US" altLang="zh-CN" b="1" dirty="0"/>
          </a:p>
          <a:p>
            <a:endParaRPr lang="en-US" altLang="zh-CN" b="1" dirty="0"/>
          </a:p>
          <a:p>
            <a:r>
              <a:rPr lang="zh-CN" altLang="en-US" b="1" dirty="0"/>
              <a:t>让</a:t>
            </a:r>
            <a:r>
              <a:rPr lang="en-US" altLang="zh-CN" b="1" dirty="0"/>
              <a:t>where</a:t>
            </a:r>
            <a:r>
              <a:rPr lang="zh-CN" altLang="en-US" b="1" dirty="0"/>
              <a:t>中只需要用到</a:t>
            </a:r>
            <a:r>
              <a:rPr lang="en-US" altLang="zh-CN" b="1" dirty="0" err="1"/>
              <a:t>isStmtNodeN</a:t>
            </a:r>
            <a:r>
              <a:rPr lang="zh-CN" altLang="en-US" b="1" dirty="0"/>
              <a:t>就能表示语句序列</a:t>
            </a:r>
            <a:endParaRPr lang="en-US" altLang="zh-CN" b="1" dirty="0"/>
          </a:p>
          <a:p>
            <a:endParaRPr lang="en-US" altLang="zh-CN" b="1" dirty="0"/>
          </a:p>
          <a:p>
            <a:endParaRPr lang="en-US" altLang="zh-CN" b="1" dirty="0"/>
          </a:p>
          <a:p>
            <a:endParaRPr lang="en-US" altLang="zh-CN" b="1" dirty="0"/>
          </a:p>
          <a:p>
            <a:endParaRPr lang="en-US" altLang="zh-CN" b="1" dirty="0"/>
          </a:p>
          <a:p>
            <a:endParaRPr lang="en-US" altLang="zh-CN" b="1" dirty="0"/>
          </a:p>
          <a:p>
            <a:endParaRPr lang="en-US" altLang="zh-CN" b="1" dirty="0"/>
          </a:p>
          <a:p>
            <a:r>
              <a:rPr lang="en-US" altLang="zh-CN" b="1" dirty="0"/>
              <a:t>Select</a:t>
            </a:r>
            <a:r>
              <a:rPr lang="zh-CN" altLang="en-US" b="1" dirty="0"/>
              <a:t>选择语句序列的最后一句非</a:t>
            </a:r>
            <a:r>
              <a:rPr lang="en-US" altLang="zh-CN" b="1" dirty="0"/>
              <a:t>not</a:t>
            </a:r>
            <a:r>
              <a:rPr lang="zh-CN" altLang="en-US" b="1" dirty="0"/>
              <a:t>语句作为输出</a:t>
            </a:r>
            <a:endParaRPr lang="en-US" altLang="zh-CN" b="1" dirty="0"/>
          </a:p>
          <a:p>
            <a:endParaRPr lang="en-US" altLang="zh-CN" b="1" dirty="0"/>
          </a:p>
          <a:p>
            <a:endParaRPr lang="en-US" altLang="zh-CN" b="1" dirty="0"/>
          </a:p>
          <a:p>
            <a:endParaRPr lang="en-US" altLang="zh-CN" b="1" dirty="0"/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ECA7F783-6FED-0F9C-E264-AFEF53A3A3D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2837198"/>
            <a:ext cx="5958627" cy="695043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47B7C330-3C59-C85F-4CA7-59A9412AEE7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73582" y="4783987"/>
            <a:ext cx="2676525" cy="323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19593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6CC954-0517-AC8B-B993-AEB19F1C59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D9A22904-ED14-65D1-4AE2-BF4FE14ED207}"/>
              </a:ext>
            </a:extLst>
          </p:cNvPr>
          <p:cNvSpPr txBox="1"/>
          <p:nvPr/>
        </p:nvSpPr>
        <p:spPr>
          <a:xfrm>
            <a:off x="393700" y="438150"/>
            <a:ext cx="25026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b="1" dirty="0" err="1">
                <a:latin typeface="+mn-ea"/>
              </a:rPr>
              <a:t>AutoQL</a:t>
            </a:r>
            <a:r>
              <a:rPr lang="zh-CN" altLang="en-US" sz="2800" b="1" dirty="0">
                <a:latin typeface="+mn-ea"/>
              </a:rPr>
              <a:t>的验证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40E9695E-CFEE-E065-1A66-87D0B3953E8E}"/>
              </a:ext>
            </a:extLst>
          </p:cNvPr>
          <p:cNvSpPr txBox="1"/>
          <p:nvPr/>
        </p:nvSpPr>
        <p:spPr>
          <a:xfrm>
            <a:off x="393699" y="1526458"/>
            <a:ext cx="9089514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/>
              <a:t>在环境中用编译模式在</a:t>
            </a:r>
            <a:r>
              <a:rPr lang="en-US" altLang="zh-CN" b="1" dirty="0"/>
              <a:t>CVE commit</a:t>
            </a:r>
            <a:r>
              <a:rPr lang="zh-CN" altLang="en-US" b="1" dirty="0"/>
              <a:t>前后分别生成修复前和修复后的</a:t>
            </a:r>
            <a:r>
              <a:rPr lang="en-US" altLang="zh-CN" b="1" dirty="0"/>
              <a:t>database</a:t>
            </a:r>
          </a:p>
          <a:p>
            <a:endParaRPr lang="en-US" altLang="zh-CN" b="1" dirty="0"/>
          </a:p>
          <a:p>
            <a:endParaRPr lang="en-US" altLang="zh-CN" b="1" dirty="0"/>
          </a:p>
          <a:p>
            <a:endParaRPr lang="en-US" altLang="zh-CN" b="1" dirty="0"/>
          </a:p>
          <a:p>
            <a:endParaRPr lang="en-US" altLang="zh-CN" b="1" dirty="0"/>
          </a:p>
          <a:p>
            <a:endParaRPr lang="en-US" altLang="zh-CN" b="1" dirty="0"/>
          </a:p>
          <a:p>
            <a:r>
              <a:rPr lang="zh-CN" altLang="en-US" b="1" dirty="0"/>
              <a:t>用</a:t>
            </a:r>
            <a:r>
              <a:rPr lang="en-US" altLang="zh-CN" b="1" dirty="0" err="1"/>
              <a:t>AutoQL</a:t>
            </a:r>
            <a:r>
              <a:rPr lang="zh-CN" altLang="en-US" b="1" dirty="0"/>
              <a:t>分别查询对应数据库，对比前后查询结果数量 </a:t>
            </a:r>
            <a:r>
              <a:rPr lang="en-US" altLang="zh-CN" b="1" dirty="0"/>
              <a:t>pre  post</a:t>
            </a:r>
          </a:p>
          <a:p>
            <a:endParaRPr lang="en-US" altLang="zh-CN" b="1" dirty="0"/>
          </a:p>
          <a:p>
            <a:r>
              <a:rPr lang="zh-CN" altLang="en-US" b="1" dirty="0"/>
              <a:t>一般来说，</a:t>
            </a:r>
            <a:r>
              <a:rPr lang="en-US" altLang="zh-CN" b="1" dirty="0"/>
              <a:t>pre &gt; post </a:t>
            </a:r>
            <a:r>
              <a:rPr lang="zh-CN" altLang="en-US" b="1" dirty="0"/>
              <a:t>代表成功命中（</a:t>
            </a:r>
            <a:r>
              <a:rPr lang="en-US" altLang="zh-CN" b="1" dirty="0"/>
              <a:t>TP</a:t>
            </a:r>
            <a:r>
              <a:rPr lang="zh-CN" altLang="en-US" b="1" dirty="0"/>
              <a:t>）</a:t>
            </a:r>
            <a:endParaRPr lang="en-US" altLang="zh-CN" b="1" dirty="0"/>
          </a:p>
          <a:p>
            <a:endParaRPr lang="en-US" altLang="zh-CN" b="1" dirty="0"/>
          </a:p>
          <a:p>
            <a:r>
              <a:rPr lang="en-US" altLang="zh-CN" b="1" dirty="0"/>
              <a:t>                  pre = 0</a:t>
            </a:r>
            <a:r>
              <a:rPr lang="zh-CN" altLang="en-US" b="1" dirty="0"/>
              <a:t>，代表有漏报 （</a:t>
            </a:r>
            <a:r>
              <a:rPr lang="en-US" altLang="zh-CN" b="1" dirty="0"/>
              <a:t>FP</a:t>
            </a:r>
            <a:r>
              <a:rPr lang="zh-CN" altLang="en-US" b="1" dirty="0"/>
              <a:t>）</a:t>
            </a:r>
            <a:endParaRPr lang="en-US" altLang="zh-CN" b="1" dirty="0"/>
          </a:p>
          <a:p>
            <a:endParaRPr lang="en-US" altLang="zh-CN" b="1" dirty="0"/>
          </a:p>
          <a:p>
            <a:r>
              <a:rPr lang="en-US" altLang="zh-CN" b="1" dirty="0"/>
              <a:t>                  pre &lt;= post &amp;&amp; pre &gt; 0</a:t>
            </a:r>
            <a:r>
              <a:rPr lang="zh-CN" altLang="en-US" b="1" dirty="0"/>
              <a:t> ，代表有误报</a:t>
            </a:r>
            <a:r>
              <a:rPr lang="en-US" altLang="zh-CN" b="1" dirty="0"/>
              <a:t> (FN)</a:t>
            </a:r>
          </a:p>
          <a:p>
            <a:endParaRPr lang="en-US" altLang="zh-CN" b="1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B98A1A96-8696-FCB2-FEAF-075827CE93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4983" y="2239757"/>
            <a:ext cx="2419350" cy="638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411812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图表 5">
            <a:extLst>
              <a:ext uri="{FF2B5EF4-FFF2-40B4-BE49-F238E27FC236}">
                <a16:creationId xmlns:a16="http://schemas.microsoft.com/office/drawing/2014/main" id="{9C799256-6B25-83F9-F58A-9460CB866AF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49586611"/>
              </p:ext>
            </p:extLst>
          </p:nvPr>
        </p:nvGraphicFramePr>
        <p:xfrm>
          <a:off x="2567142" y="972288"/>
          <a:ext cx="7057716" cy="470514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23129467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图表 4">
            <a:extLst>
              <a:ext uri="{FF2B5EF4-FFF2-40B4-BE49-F238E27FC236}">
                <a16:creationId xmlns:a16="http://schemas.microsoft.com/office/drawing/2014/main" id="{5B337415-72C2-7FE4-A6C0-5A80432374D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765071561"/>
              </p:ext>
            </p:extLst>
          </p:nvPr>
        </p:nvGraphicFramePr>
        <p:xfrm>
          <a:off x="2031999" y="1439333"/>
          <a:ext cx="8128000" cy="541866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" name="文本框 5">
            <a:extLst>
              <a:ext uri="{FF2B5EF4-FFF2-40B4-BE49-F238E27FC236}">
                <a16:creationId xmlns:a16="http://schemas.microsoft.com/office/drawing/2014/main" id="{BA44A151-576E-AF57-233F-C80D6DC446BB}"/>
              </a:ext>
            </a:extLst>
          </p:cNvPr>
          <p:cNvSpPr txBox="1"/>
          <p:nvPr/>
        </p:nvSpPr>
        <p:spPr>
          <a:xfrm>
            <a:off x="1807302" y="154536"/>
            <a:ext cx="857739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ISR</a:t>
            </a:r>
            <a:r>
              <a:rPr lang="zh-CN" altLang="en-US" dirty="0"/>
              <a:t>：移动不影响语义的语句位置</a:t>
            </a:r>
            <a:br>
              <a:rPr lang="en-US" altLang="zh-CN" dirty="0"/>
            </a:br>
            <a:r>
              <a:rPr lang="en-US" altLang="zh-CN" dirty="0"/>
              <a:t>CN</a:t>
            </a:r>
            <a:r>
              <a:rPr lang="zh-CN" altLang="en-US" dirty="0"/>
              <a:t>：对条件判断写法做归一化，例如补括号、统一 </a:t>
            </a:r>
            <a:r>
              <a:rPr lang="en-US" altLang="zh-CN" dirty="0"/>
              <a:t>NULL </a:t>
            </a:r>
            <a:r>
              <a:rPr lang="zh-CN" altLang="en-US" dirty="0"/>
              <a:t>比较、单行分支加大括号</a:t>
            </a:r>
            <a:endParaRPr lang="en-US" altLang="zh-CN" dirty="0"/>
          </a:p>
          <a:p>
            <a:r>
              <a:rPr lang="en-US" altLang="zh-CN" dirty="0"/>
              <a:t>EER</a:t>
            </a:r>
            <a:r>
              <a:rPr lang="zh-CN" altLang="en-US" dirty="0"/>
              <a:t>：等价的表达式写法替换，比如同义表达式改写</a:t>
            </a:r>
            <a:endParaRPr lang="en-US" altLang="zh-CN" dirty="0"/>
          </a:p>
          <a:p>
            <a:r>
              <a:rPr lang="en-US" altLang="zh-CN" dirty="0"/>
              <a:t>LVR</a:t>
            </a:r>
            <a:r>
              <a:rPr lang="zh-CN" altLang="en-US" dirty="0"/>
              <a:t>：重命名函数体内的局部变量或参数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8968114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FA45E1-B9C2-4111-C35A-DF432567AB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BE01653A-25BC-A2BC-EC73-0057FC0EFA5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35660" y="625450"/>
            <a:ext cx="6456340" cy="5903366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FFD01CD4-04C0-B32F-3F4E-EC68A2D8EE5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194" y="1048064"/>
            <a:ext cx="5734531" cy="5244998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089478C5-5E1E-F596-07B0-32F3A0B9FE66}"/>
              </a:ext>
            </a:extLst>
          </p:cNvPr>
          <p:cNvSpPr txBox="1"/>
          <p:nvPr/>
        </p:nvSpPr>
        <p:spPr>
          <a:xfrm>
            <a:off x="739588" y="359924"/>
            <a:ext cx="2682688" cy="3834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 err="1"/>
              <a:t>arkweb</a:t>
            </a:r>
            <a:endParaRPr lang="zh-CN" altLang="en-US" b="1" dirty="0"/>
          </a:p>
        </p:txBody>
      </p:sp>
    </p:spTree>
    <p:extLst>
      <p:ext uri="{BB962C8B-B14F-4D97-AF65-F5344CB8AC3E}">
        <p14:creationId xmlns:p14="http://schemas.microsoft.com/office/powerpoint/2010/main" val="36252444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1BD8C769-BDAB-9168-7BD6-C6973EC59A4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19835" y="0"/>
            <a:ext cx="5294264" cy="6858000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FA14322B-DAE7-0573-42B8-7417E0C7703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682" y="475218"/>
            <a:ext cx="5947258" cy="54423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384995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2A5D3F-4ADD-ABF6-6E74-7FF5B4DD55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CCCF0769-8D3D-587E-69AE-31FFB47C681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2603" y="2550972"/>
            <a:ext cx="8426794" cy="4307028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F16CED23-2F46-76EE-F9B4-351C1E1D9DB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09784" y="47417"/>
            <a:ext cx="5572432" cy="25035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999318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6D4D0C-C110-E19B-B733-2A7229E70B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7B649033-CDF8-6E15-4519-641B1793A069}"/>
              </a:ext>
            </a:extLst>
          </p:cNvPr>
          <p:cNvSpPr txBox="1"/>
          <p:nvPr/>
        </p:nvSpPr>
        <p:spPr>
          <a:xfrm>
            <a:off x="4020574" y="1958934"/>
            <a:ext cx="415085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5400" b="1" dirty="0"/>
              <a:t>DSL</a:t>
            </a:r>
            <a:r>
              <a:rPr lang="zh-CN" altLang="en-US" sz="5400" b="1" dirty="0"/>
              <a:t>案例展示</a:t>
            </a:r>
          </a:p>
        </p:txBody>
      </p:sp>
    </p:spTree>
    <p:extLst>
      <p:ext uri="{BB962C8B-B14F-4D97-AF65-F5344CB8AC3E}">
        <p14:creationId xmlns:p14="http://schemas.microsoft.com/office/powerpoint/2010/main" val="88116624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08225B-A5B1-3F4D-C24E-AA34B7CCCE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946C1D3E-8B0C-3409-A5D8-DFCF8AC52454}"/>
              </a:ext>
            </a:extLst>
          </p:cNvPr>
          <p:cNvSpPr txBox="1"/>
          <p:nvPr/>
        </p:nvSpPr>
        <p:spPr>
          <a:xfrm>
            <a:off x="393700" y="438150"/>
            <a:ext cx="476765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latin typeface="+mn-ea"/>
              </a:rPr>
              <a:t>案例展示：</a:t>
            </a:r>
            <a:r>
              <a:rPr lang="en-US" altLang="zh-CN" sz="2800" b="1" dirty="0">
                <a:latin typeface="+mn-ea"/>
              </a:rPr>
              <a:t>CVE-2024-58007</a:t>
            </a:r>
            <a:endParaRPr lang="zh-CN" altLang="en-US" sz="2800" b="1" dirty="0">
              <a:latin typeface="+mn-ea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54224C16-FBEE-3CAB-10B4-2AE1B3BAB29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3700" y="1467186"/>
            <a:ext cx="4943202" cy="1762432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75D1A582-D71A-522E-D4C4-1C8F6D30A3A5}"/>
              </a:ext>
            </a:extLst>
          </p:cNvPr>
          <p:cNvSpPr txBox="1"/>
          <p:nvPr/>
        </p:nvSpPr>
        <p:spPr>
          <a:xfrm>
            <a:off x="253590" y="3229618"/>
            <a:ext cx="5195939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i="0" dirty="0">
                <a:solidFill>
                  <a:srgbClr val="0F1115"/>
                </a:solidFill>
                <a:effectLst/>
                <a:latin typeface="quote-cjk-patch"/>
              </a:rPr>
              <a:t>Out-of-Bounds</a:t>
            </a:r>
          </a:p>
          <a:p>
            <a:endParaRPr lang="en-US" altLang="zh-CN" b="1" dirty="0">
              <a:solidFill>
                <a:srgbClr val="0F1115"/>
              </a:solidFill>
              <a:latin typeface="quote-cjk-patch"/>
            </a:endParaRPr>
          </a:p>
          <a:p>
            <a:r>
              <a:rPr lang="zh-CN" altLang="en-US" dirty="0"/>
              <a:t>在 </a:t>
            </a:r>
            <a:r>
              <a:rPr lang="en-US" altLang="zh-CN" dirty="0"/>
              <a:t>MSM8916 </a:t>
            </a:r>
            <a:r>
              <a:rPr lang="zh-CN" altLang="en-US" dirty="0"/>
              <a:t>等旧款高通芯片上，固件提供的 </a:t>
            </a:r>
            <a:r>
              <a:rPr lang="en-US" altLang="zh-CN" dirty="0"/>
              <a:t>SMEM </a:t>
            </a:r>
            <a:r>
              <a:rPr lang="zh-CN" altLang="en-US" dirty="0"/>
              <a:t>中的 </a:t>
            </a:r>
            <a:r>
              <a:rPr lang="en-US" altLang="zh-CN" dirty="0" err="1"/>
              <a:t>socinfo</a:t>
            </a:r>
            <a:r>
              <a:rPr lang="en-US" altLang="zh-CN" dirty="0"/>
              <a:t> </a:t>
            </a:r>
            <a:r>
              <a:rPr lang="zh-CN" altLang="en-US" dirty="0"/>
              <a:t>结构体版本为 </a:t>
            </a:r>
            <a:r>
              <a:rPr lang="en-US" altLang="zh-CN" dirty="0"/>
              <a:t>SOCINFO_VERSION(0, 8)</a:t>
            </a:r>
            <a:r>
              <a:rPr lang="zh-CN" altLang="en-US" dirty="0"/>
              <a:t>。这个版本的 </a:t>
            </a:r>
            <a:r>
              <a:rPr lang="en-US" altLang="zh-CN" dirty="0"/>
              <a:t>struct </a:t>
            </a:r>
            <a:r>
              <a:rPr lang="en-US" altLang="zh-CN" dirty="0" err="1"/>
              <a:t>socinfo</a:t>
            </a:r>
            <a:r>
              <a:rPr lang="en-US" altLang="zh-CN" dirty="0"/>
              <a:t> </a:t>
            </a:r>
            <a:r>
              <a:rPr lang="zh-CN" altLang="en-US" dirty="0"/>
              <a:t>不包含 </a:t>
            </a:r>
            <a:r>
              <a:rPr lang="en-US" altLang="zh-CN" dirty="0" err="1"/>
              <a:t>serial_num</a:t>
            </a:r>
            <a:r>
              <a:rPr lang="en-US" altLang="zh-CN" dirty="0"/>
              <a:t> </a:t>
            </a:r>
            <a:r>
              <a:rPr lang="zh-CN" altLang="en-US" dirty="0"/>
              <a:t>字段。</a:t>
            </a:r>
            <a:endParaRPr lang="en-US" altLang="zh-CN" dirty="0"/>
          </a:p>
          <a:p>
            <a:r>
              <a:rPr lang="zh-CN" altLang="en-US" dirty="0"/>
              <a:t>在 </a:t>
            </a:r>
            <a:r>
              <a:rPr lang="en-US" altLang="zh-CN" dirty="0"/>
              <a:t>MSM8916 </a:t>
            </a:r>
            <a:r>
              <a:rPr lang="zh-CN" altLang="en-US" dirty="0"/>
              <a:t>上，由于结构体定义不匹配，</a:t>
            </a:r>
            <a:r>
              <a:rPr lang="en-US" altLang="zh-CN" dirty="0" err="1"/>
              <a:t>offsetof</a:t>
            </a:r>
            <a:r>
              <a:rPr lang="en-US" altLang="zh-CN" dirty="0"/>
              <a:t>(</a:t>
            </a:r>
            <a:r>
              <a:rPr lang="en-US" altLang="zh-CN" dirty="0" err="1"/>
              <a:t>serial_num</a:t>
            </a:r>
            <a:r>
              <a:rPr lang="en-US" altLang="zh-CN" dirty="0"/>
              <a:t>) </a:t>
            </a:r>
            <a:r>
              <a:rPr lang="zh-CN" altLang="en-US" dirty="0"/>
              <a:t>可能恰好 ≤ </a:t>
            </a:r>
            <a:r>
              <a:rPr lang="en-US" altLang="zh-CN" dirty="0" err="1"/>
              <a:t>item_size</a:t>
            </a:r>
            <a:r>
              <a:rPr lang="zh-CN" altLang="en-US" dirty="0"/>
              <a:t>，导致条件通过，代码误认为 </a:t>
            </a:r>
            <a:r>
              <a:rPr lang="en-US" altLang="zh-CN" dirty="0" err="1"/>
              <a:t>serial_num</a:t>
            </a:r>
            <a:r>
              <a:rPr lang="en-US" altLang="zh-CN" dirty="0"/>
              <a:t> </a:t>
            </a:r>
            <a:r>
              <a:rPr lang="zh-CN" altLang="en-US" dirty="0"/>
              <a:t>存在。</a:t>
            </a:r>
            <a:endParaRPr lang="en-US" altLang="zh-CN" dirty="0"/>
          </a:p>
          <a:p>
            <a:r>
              <a:rPr lang="zh-CN" altLang="en-US" dirty="0"/>
              <a:t>当条件满足时：</a:t>
            </a:r>
            <a:r>
              <a:rPr lang="pt-BR" altLang="zh-CN" dirty="0"/>
              <a:t>le32_to_cpu(info-&gt;serial_num)</a:t>
            </a:r>
            <a:r>
              <a:rPr lang="zh-CN" altLang="en-US" dirty="0"/>
              <a:t>被执行</a:t>
            </a:r>
            <a:endParaRPr lang="pt-BR" altLang="zh-CN" dirty="0"/>
          </a:p>
          <a:p>
            <a:r>
              <a:rPr lang="zh-CN" altLang="en-US" dirty="0"/>
              <a:t>读取了 </a:t>
            </a:r>
            <a:r>
              <a:rPr lang="en-US" altLang="zh-CN" dirty="0"/>
              <a:t>SMEM </a:t>
            </a:r>
            <a:r>
              <a:rPr lang="zh-CN" altLang="en-US" dirty="0"/>
              <a:t>区域之外的内存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895C065F-5B4D-9D5F-C593-A2F4BA3AFBAB}"/>
              </a:ext>
            </a:extLst>
          </p:cNvPr>
          <p:cNvSpPr txBox="1"/>
          <p:nvPr/>
        </p:nvSpPr>
        <p:spPr>
          <a:xfrm>
            <a:off x="6096000" y="1931760"/>
            <a:ext cx="6742471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zh-CN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"@</a:t>
            </a:r>
            <a:r>
              <a:rPr lang="en-US" altLang="zh-CN" sz="16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qcom_socinfo_probe</a:t>
            </a:r>
            <a:r>
              <a:rPr lang="en-US" altLang="zh-CN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@"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buNone/>
            </a:pPr>
            <a:r>
              <a:rPr lang="en-US" altLang="zh-CN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"meta struct </a:t>
            </a:r>
            <a:r>
              <a:rPr lang="en-US" altLang="zh-CN" sz="16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socinfo</a:t>
            </a:r>
            <a:r>
              <a:rPr lang="en-US" altLang="zh-CN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* info;"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buNone/>
            </a:pPr>
            <a:r>
              <a:rPr lang="en-US" altLang="zh-CN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"meta </a:t>
            </a:r>
            <a:r>
              <a:rPr lang="en-US" altLang="zh-CN" sz="16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size_t</a:t>
            </a:r>
            <a:r>
              <a:rPr lang="en-US" altLang="zh-CN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6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item_size</a:t>
            </a:r>
            <a:r>
              <a:rPr lang="en-US" altLang="zh-CN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;"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buNone/>
            </a:pPr>
            <a:r>
              <a:rPr lang="en-US" altLang="zh-CN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"meta struct </a:t>
            </a:r>
            <a:r>
              <a:rPr lang="en-US" altLang="zh-CN" sz="16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platform_device</a:t>
            </a:r>
            <a:r>
              <a:rPr lang="en-US" altLang="zh-CN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* </a:t>
            </a:r>
            <a:r>
              <a:rPr lang="en-US" altLang="zh-CN" sz="16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pdev</a:t>
            </a:r>
            <a:r>
              <a:rPr lang="en-US" altLang="zh-CN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;"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buNone/>
            </a:pPr>
            <a:r>
              <a:rPr lang="en-US" altLang="zh-CN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"meta struct </a:t>
            </a:r>
            <a:r>
              <a:rPr lang="en-US" altLang="zh-CN" sz="16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qcom_socinfo</a:t>
            </a:r>
            <a:r>
              <a:rPr lang="en-US" altLang="zh-CN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* </a:t>
            </a:r>
            <a:r>
              <a:rPr lang="en-US" altLang="zh-CN" sz="16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qs</a:t>
            </a:r>
            <a:r>
              <a:rPr lang="en-US" altLang="zh-CN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;"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buNone/>
            </a:pPr>
            <a:r>
              <a:rPr lang="en-US" altLang="zh-CN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"@@"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buNone/>
            </a:pPr>
            <a:r>
              <a:rPr lang="en-US" altLang="zh-CN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"info = </a:t>
            </a:r>
            <a:r>
              <a:rPr lang="en-US" altLang="zh-CN" sz="16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qcom_smem_get</a:t>
            </a:r>
            <a:r>
              <a:rPr lang="en-US" altLang="zh-CN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(QCOM_SMEM_HOST_ANY, </a:t>
            </a:r>
          </a:p>
          <a:p>
            <a:pPr>
              <a:buNone/>
            </a:pPr>
            <a:r>
              <a:rPr lang="en-US" altLang="zh-CN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SMEM_HW_SW_BUILD_ID, &amp;</a:t>
            </a:r>
            <a:r>
              <a:rPr lang="en-US" altLang="zh-CN" sz="16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item_size</a:t>
            </a:r>
            <a:r>
              <a:rPr lang="en-US" altLang="zh-CN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)"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buNone/>
            </a:pPr>
            <a:r>
              <a:rPr lang="en-US" altLang="zh-CN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"not {"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buNone/>
            </a:pPr>
            <a:r>
              <a:rPr lang="en-US" altLang="zh-CN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  if (</a:t>
            </a:r>
            <a:r>
              <a:rPr lang="en-US" altLang="zh-CN" sz="16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offsetofend</a:t>
            </a:r>
            <a:r>
              <a:rPr lang="en-US" altLang="zh-CN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(struct </a:t>
            </a:r>
            <a:r>
              <a:rPr lang="en-US" altLang="zh-CN" sz="16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socinfo</a:t>
            </a:r>
            <a:r>
              <a:rPr lang="en-US" altLang="zh-CN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16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serial_num</a:t>
            </a:r>
            <a:r>
              <a:rPr lang="en-US" altLang="zh-CN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) &lt;= </a:t>
            </a:r>
            <a:r>
              <a:rPr lang="en-US" altLang="zh-CN" sz="16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item_size</a:t>
            </a:r>
            <a:r>
              <a:rPr lang="en-US" altLang="zh-CN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)"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buNone/>
            </a:pPr>
            <a:r>
              <a:rPr lang="en-US" altLang="zh-CN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"}"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buNone/>
            </a:pPr>
            <a:r>
              <a:rPr lang="en-US" altLang="zh-CN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zh-CN" sz="16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qs</a:t>
            </a:r>
            <a:r>
              <a:rPr lang="en-US" altLang="zh-CN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altLang="zh-CN" sz="16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attr.serial_number</a:t>
            </a:r>
            <a:r>
              <a:rPr lang="en-US" altLang="zh-CN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zh-CN" sz="16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devm_kasprintf</a:t>
            </a:r>
            <a:r>
              <a:rPr lang="en-US" altLang="zh-CN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(&amp;</a:t>
            </a:r>
            <a:r>
              <a:rPr lang="en-US" altLang="zh-CN" sz="16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pdev</a:t>
            </a:r>
            <a:r>
              <a:rPr lang="en-US" altLang="zh-CN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-&gt;dev, GFP_KERNEL,\"%u\",le32_to_cpu(info-&gt;</a:t>
            </a:r>
            <a:r>
              <a:rPr lang="en-US" altLang="zh-CN" sz="16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serial_num</a:t>
            </a:r>
            <a:r>
              <a:rPr lang="en-US" altLang="zh-CN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))"</a:t>
            </a:r>
            <a:endParaRPr lang="en-US" altLang="zh-CN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6688163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221592D8-7460-25B5-87DC-5BF8712F29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584852" cy="3803392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56873C04-277D-6591-AE9E-001A84C8E1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603095"/>
            <a:ext cx="5616336" cy="3243784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A1395268-4671-A4DA-1503-9C3AF0E6B29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84852" y="0"/>
            <a:ext cx="6607148" cy="4135540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DA229BE0-CC66-2EFF-D009-27AE09AD6ED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84852" y="2711339"/>
            <a:ext cx="6607148" cy="4146661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1B3A73A5-F615-F4E0-E58B-3B57CFCB9DE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92373" y="2163711"/>
            <a:ext cx="4148969" cy="25305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64020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B4CD4C-0919-6EB7-F894-BAC50D0307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13532F13-F1FF-053B-2D30-1DCC79F53E49}"/>
              </a:ext>
            </a:extLst>
          </p:cNvPr>
          <p:cNvSpPr txBox="1"/>
          <p:nvPr/>
        </p:nvSpPr>
        <p:spPr>
          <a:xfrm>
            <a:off x="393700" y="438150"/>
            <a:ext cx="476765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latin typeface="+mn-ea"/>
              </a:rPr>
              <a:t>案例展示：</a:t>
            </a:r>
            <a:r>
              <a:rPr lang="en-US" altLang="zh-CN" sz="2800" b="1" dirty="0">
                <a:latin typeface="+mn-ea"/>
              </a:rPr>
              <a:t>CVE-2024-58021</a:t>
            </a:r>
            <a:endParaRPr lang="zh-CN" altLang="en-US" sz="2800" b="1" dirty="0">
              <a:latin typeface="+mn-ea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964695F-3BF8-AD73-D38A-5A67C514EBDC}"/>
              </a:ext>
            </a:extLst>
          </p:cNvPr>
          <p:cNvSpPr txBox="1"/>
          <p:nvPr/>
        </p:nvSpPr>
        <p:spPr>
          <a:xfrm>
            <a:off x="253590" y="3229618"/>
            <a:ext cx="5195939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i="0" dirty="0">
                <a:solidFill>
                  <a:srgbClr val="0F1115"/>
                </a:solidFill>
                <a:effectLst/>
                <a:latin typeface="quote-cjk-patch"/>
              </a:rPr>
              <a:t>NULL Pointer Dereference</a:t>
            </a:r>
          </a:p>
          <a:p>
            <a:endParaRPr lang="en-US" altLang="zh-CN" dirty="0">
              <a:solidFill>
                <a:srgbClr val="0F1115"/>
              </a:solidFill>
              <a:latin typeface="quote-cjk-patch"/>
            </a:endParaRPr>
          </a:p>
          <a:p>
            <a:r>
              <a:rPr lang="zh-CN" altLang="en-US" dirty="0"/>
              <a:t>在 </a:t>
            </a:r>
            <a:r>
              <a:rPr lang="en-US" altLang="zh-CN" dirty="0" err="1"/>
              <a:t>winwing_init_led</a:t>
            </a:r>
            <a:r>
              <a:rPr lang="en-US" altLang="zh-CN" dirty="0"/>
              <a:t>() </a:t>
            </a:r>
            <a:r>
              <a:rPr lang="zh-CN" altLang="en-US" dirty="0"/>
              <a:t>函数中，调用 </a:t>
            </a:r>
            <a:r>
              <a:rPr lang="en-US" altLang="zh-CN" dirty="0" err="1"/>
              <a:t>devm_kasprintf</a:t>
            </a:r>
            <a:r>
              <a:rPr lang="en-US" altLang="zh-CN" dirty="0"/>
              <a:t>() </a:t>
            </a:r>
            <a:r>
              <a:rPr lang="zh-CN" altLang="en-US" dirty="0"/>
              <a:t>动态分配内存来构造 </a:t>
            </a:r>
            <a:r>
              <a:rPr lang="en-US" altLang="zh-CN" dirty="0"/>
              <a:t>LED </a:t>
            </a:r>
            <a:r>
              <a:rPr lang="zh-CN" altLang="en-US" dirty="0"/>
              <a:t>设备的名称字符串，但没有检查返回值是否为 </a:t>
            </a:r>
            <a:r>
              <a:rPr lang="en-US" altLang="zh-CN" dirty="0"/>
              <a:t>NULL</a:t>
            </a:r>
            <a:r>
              <a:rPr lang="zh-CN" altLang="en-US" dirty="0"/>
              <a:t>。</a:t>
            </a:r>
            <a:endParaRPr lang="en-US" altLang="zh-CN" dirty="0"/>
          </a:p>
          <a:p>
            <a:r>
              <a:rPr lang="zh-CN" altLang="en-US" dirty="0"/>
              <a:t>当系统内存压力较大时，</a:t>
            </a:r>
            <a:r>
              <a:rPr lang="en-US" altLang="zh-CN" dirty="0" err="1"/>
              <a:t>devm_kasprintf</a:t>
            </a:r>
            <a:r>
              <a:rPr lang="en-US" altLang="zh-CN" dirty="0"/>
              <a:t>()</a:t>
            </a:r>
            <a:r>
              <a:rPr lang="zh-CN" altLang="en-US" dirty="0"/>
              <a:t> 可能返回 </a:t>
            </a:r>
            <a:r>
              <a:rPr lang="en-US" altLang="zh-CN" dirty="0"/>
              <a:t>NULL</a:t>
            </a:r>
            <a:r>
              <a:rPr lang="zh-CN" altLang="en-US" dirty="0"/>
              <a:t>。随后：</a:t>
            </a:r>
            <a:endParaRPr lang="en-US" altLang="zh-CN" dirty="0"/>
          </a:p>
          <a:p>
            <a:r>
              <a:rPr lang="en-US" altLang="zh-CN" dirty="0"/>
              <a:t>led-&gt;cdev.name = NULL </a:t>
            </a:r>
            <a:r>
              <a:rPr lang="zh-CN" altLang="en-US" dirty="0"/>
              <a:t>被赋值</a:t>
            </a:r>
          </a:p>
          <a:p>
            <a:r>
              <a:rPr lang="en-US" altLang="zh-CN" dirty="0" err="1"/>
              <a:t>devm_led_classdev_register</a:t>
            </a:r>
            <a:r>
              <a:rPr lang="en-US" altLang="zh-CN" dirty="0"/>
              <a:t>() </a:t>
            </a:r>
            <a:r>
              <a:rPr lang="zh-CN" altLang="en-US" dirty="0"/>
              <a:t>内部会访问 </a:t>
            </a:r>
            <a:r>
              <a:rPr lang="en-US" altLang="zh-CN" dirty="0"/>
              <a:t>led-&gt;cdev.name</a:t>
            </a:r>
          </a:p>
          <a:p>
            <a:r>
              <a:rPr lang="zh-CN" altLang="en-US" dirty="0"/>
              <a:t>发生内核空指针解引用 → 内核崩溃（</a:t>
            </a:r>
            <a:r>
              <a:rPr lang="en-US" altLang="zh-CN" dirty="0"/>
              <a:t>panic</a:t>
            </a:r>
            <a:r>
              <a:rPr lang="zh-CN" altLang="en-US" dirty="0"/>
              <a:t>）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56F43B-A8BC-36B7-820F-7836DA04D570}"/>
              </a:ext>
            </a:extLst>
          </p:cNvPr>
          <p:cNvSpPr txBox="1"/>
          <p:nvPr/>
        </p:nvSpPr>
        <p:spPr>
          <a:xfrm>
            <a:off x="5336903" y="2027625"/>
            <a:ext cx="6855097" cy="32932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zh-CN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"@</a:t>
            </a:r>
            <a:r>
              <a:rPr lang="en-US" altLang="zh-CN" sz="16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winwing_init_led</a:t>
            </a:r>
            <a:r>
              <a:rPr lang="en-US" altLang="zh-CN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@",</a:t>
            </a:r>
          </a:p>
          <a:p>
            <a:pPr>
              <a:buNone/>
            </a:pPr>
            <a:r>
              <a:rPr lang="en-US" altLang="zh-CN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"meta struct </a:t>
            </a:r>
            <a:r>
              <a:rPr lang="en-US" altLang="zh-CN" sz="16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hid_device</a:t>
            </a:r>
            <a:r>
              <a:rPr lang="en-US" altLang="zh-CN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* </a:t>
            </a:r>
            <a:r>
              <a:rPr lang="en-US" altLang="zh-CN" sz="16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hdev</a:t>
            </a:r>
            <a:r>
              <a:rPr lang="en-US" altLang="zh-CN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;",</a:t>
            </a:r>
          </a:p>
          <a:p>
            <a:pPr>
              <a:buNone/>
            </a:pPr>
            <a:r>
              <a:rPr lang="en-US" altLang="zh-CN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"meta const struct </a:t>
            </a:r>
            <a:r>
              <a:rPr lang="en-US" altLang="zh-CN" sz="16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winwing_led_info</a:t>
            </a:r>
            <a:r>
              <a:rPr lang="en-US" altLang="zh-CN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* info;",</a:t>
            </a:r>
          </a:p>
          <a:p>
            <a:pPr>
              <a:buNone/>
            </a:pPr>
            <a:r>
              <a:rPr lang="en-US" altLang="zh-CN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"meta struct </a:t>
            </a:r>
            <a:r>
              <a:rPr lang="en-US" altLang="zh-CN" sz="16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input_dev</a:t>
            </a:r>
            <a:r>
              <a:rPr lang="en-US" altLang="zh-CN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* input;",</a:t>
            </a:r>
          </a:p>
          <a:p>
            <a:pPr>
              <a:buNone/>
            </a:pPr>
            <a:r>
              <a:rPr lang="en-US" altLang="zh-CN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"meta struct </a:t>
            </a:r>
            <a:r>
              <a:rPr lang="en-US" altLang="zh-CN" sz="16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winwing_led</a:t>
            </a:r>
            <a:r>
              <a:rPr lang="en-US" altLang="zh-CN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* led;",</a:t>
            </a:r>
          </a:p>
          <a:p>
            <a:pPr>
              <a:buNone/>
            </a:pPr>
            <a:r>
              <a:rPr lang="en-US" altLang="zh-CN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"meta int ret;",</a:t>
            </a:r>
          </a:p>
          <a:p>
            <a:pPr>
              <a:buNone/>
            </a:pPr>
            <a:r>
              <a:rPr lang="en-US" altLang="zh-CN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"@@",</a:t>
            </a:r>
          </a:p>
          <a:p>
            <a:pPr>
              <a:buNone/>
            </a:pPr>
            <a:r>
              <a:rPr lang="en-US" altLang="zh-CN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"led-&gt;cdev.name = </a:t>
            </a:r>
            <a:r>
              <a:rPr lang="en-US" altLang="zh-CN" sz="16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devm_kasprintf</a:t>
            </a:r>
            <a:r>
              <a:rPr lang="en-US" altLang="zh-CN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(&amp;</a:t>
            </a:r>
            <a:r>
              <a:rPr lang="en-US" altLang="zh-CN" sz="16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hdev</a:t>
            </a:r>
            <a:r>
              <a:rPr lang="en-US" altLang="zh-CN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-&gt;dev, GFP_KERNEL,\"%s::%s\",</a:t>
            </a:r>
            <a:r>
              <a:rPr lang="en-US" altLang="zh-CN" sz="16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dev_name</a:t>
            </a:r>
            <a:r>
              <a:rPr lang="en-US" altLang="zh-CN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(&amp;input-&gt;dev),info-&gt;</a:t>
            </a:r>
            <a:r>
              <a:rPr lang="en-US" altLang="zh-CN" sz="16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led_name</a:t>
            </a:r>
            <a:r>
              <a:rPr lang="en-US" altLang="zh-CN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)",</a:t>
            </a:r>
          </a:p>
          <a:p>
            <a:pPr>
              <a:buNone/>
            </a:pPr>
            <a:r>
              <a:rPr lang="en-US" altLang="zh-CN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"not {",</a:t>
            </a:r>
          </a:p>
          <a:p>
            <a:pPr>
              <a:buNone/>
            </a:pPr>
            <a:r>
              <a:rPr lang="en-US" altLang="zh-CN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  if (!led-&gt;cdev.name)",</a:t>
            </a:r>
          </a:p>
          <a:p>
            <a:pPr>
              <a:buNone/>
            </a:pPr>
            <a:r>
              <a:rPr lang="en-US" altLang="zh-CN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"}",</a:t>
            </a:r>
          </a:p>
          <a:p>
            <a:pPr>
              <a:buNone/>
            </a:pPr>
            <a:r>
              <a:rPr lang="en-US" altLang="zh-CN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"ret = </a:t>
            </a:r>
            <a:r>
              <a:rPr lang="en-US" altLang="zh-CN" sz="16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devm_led_classdev_register</a:t>
            </a:r>
            <a:r>
              <a:rPr lang="en-US" altLang="zh-CN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(&amp;</a:t>
            </a:r>
            <a:r>
              <a:rPr lang="en-US" altLang="zh-CN" sz="16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hdev</a:t>
            </a:r>
            <a:r>
              <a:rPr lang="en-US" altLang="zh-CN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-&gt;dev, &amp;led-&gt;</a:t>
            </a:r>
            <a:r>
              <a:rPr lang="en-US" altLang="zh-CN" sz="16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cdev</a:t>
            </a:r>
            <a:r>
              <a:rPr lang="en-US" altLang="zh-CN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)"</a:t>
            </a:r>
            <a:endParaRPr lang="en-US" altLang="zh-CN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9F8D8723-2A5E-7086-AB5A-E2E6A557167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3700" y="1248404"/>
            <a:ext cx="4667284" cy="1981214"/>
          </a:xfrm>
          <a:prstGeom prst="rect">
            <a:avLst/>
          </a:prstGeom>
        </p:spPr>
      </p:pic>
      <p:sp>
        <p:nvSpPr>
          <p:cNvPr id="16" name="文本框 15">
            <a:extLst>
              <a:ext uri="{FF2B5EF4-FFF2-40B4-BE49-F238E27FC236}">
                <a16:creationId xmlns:a16="http://schemas.microsoft.com/office/drawing/2014/main" id="{5FB0E4B6-331D-9DF0-AFB6-B9A59C7E3407}"/>
              </a:ext>
            </a:extLst>
          </p:cNvPr>
          <p:cNvSpPr txBox="1"/>
          <p:nvPr/>
        </p:nvSpPr>
        <p:spPr>
          <a:xfrm>
            <a:off x="5336903" y="5475554"/>
            <a:ext cx="23984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/>
              <a:t>触发大模型分析</a:t>
            </a:r>
            <a:r>
              <a:rPr lang="en-US" altLang="zh-CN" b="1" dirty="0"/>
              <a:t>callee</a:t>
            </a:r>
            <a:endParaRPr lang="zh-CN" altLang="en-US" b="1" dirty="0"/>
          </a:p>
        </p:txBody>
      </p:sp>
    </p:spTree>
    <p:extLst>
      <p:ext uri="{BB962C8B-B14F-4D97-AF65-F5344CB8AC3E}">
        <p14:creationId xmlns:p14="http://schemas.microsoft.com/office/powerpoint/2010/main" val="390270398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E91562-3984-3266-4A1D-48B2E7E77E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0C019F9F-47B8-24CD-ACD4-21EBD83A1A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637013" cy="6858000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2F2F6BA2-2D92-10D2-8FE5-31DFF29374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6553200" cy="3533775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C2099624-A912-6725-A98C-E88E21C9EF0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51582" y="0"/>
            <a:ext cx="5738631" cy="6858000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9B6FF414-FE04-70E7-D5AD-AED882A8A4B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34448" y="1871662"/>
            <a:ext cx="5219700" cy="3324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30336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FC3718-F45A-7998-F340-48C92AFA73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B4DA027B-D227-0506-528B-18FD837ADDDE}"/>
              </a:ext>
            </a:extLst>
          </p:cNvPr>
          <p:cNvSpPr txBox="1"/>
          <p:nvPr/>
        </p:nvSpPr>
        <p:spPr>
          <a:xfrm>
            <a:off x="393700" y="438150"/>
            <a:ext cx="476765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latin typeface="+mn-ea"/>
              </a:rPr>
              <a:t>案例展示：</a:t>
            </a:r>
            <a:r>
              <a:rPr lang="en-US" altLang="zh-CN" sz="2800" b="1" dirty="0">
                <a:latin typeface="+mn-ea"/>
              </a:rPr>
              <a:t>CVE-2024-58093</a:t>
            </a:r>
            <a:endParaRPr lang="zh-CN" altLang="en-US" sz="2800" b="1" dirty="0">
              <a:latin typeface="+mn-ea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3701C27-FE75-9780-F671-727CA5E106B9}"/>
              </a:ext>
            </a:extLst>
          </p:cNvPr>
          <p:cNvSpPr txBox="1"/>
          <p:nvPr/>
        </p:nvSpPr>
        <p:spPr>
          <a:xfrm>
            <a:off x="5449529" y="602177"/>
            <a:ext cx="6275439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i="0" dirty="0">
                <a:solidFill>
                  <a:srgbClr val="0F1115"/>
                </a:solidFill>
                <a:effectLst/>
                <a:latin typeface="quote-cjk-patch"/>
              </a:rPr>
              <a:t>Use After Free</a:t>
            </a:r>
          </a:p>
          <a:p>
            <a:endParaRPr lang="en-US" altLang="zh-CN" dirty="0">
              <a:solidFill>
                <a:srgbClr val="0F1115"/>
              </a:solidFill>
              <a:latin typeface="quote-cjk-patch"/>
            </a:endParaRPr>
          </a:p>
          <a:p>
            <a:pPr latinLnBrk="1"/>
            <a:r>
              <a:rPr lang="zh-CN" altLang="en-US" dirty="0"/>
              <a:t>任意总线上的函数被移除时就释放</a:t>
            </a:r>
            <a:r>
              <a:rPr lang="en-US" altLang="zh-CN" dirty="0"/>
              <a:t>ASPM</a:t>
            </a:r>
            <a:r>
              <a:rPr lang="zh-CN" altLang="en-US" dirty="0"/>
              <a:t>链路状态</a:t>
            </a:r>
            <a:endParaRPr lang="en-US" altLang="zh-CN" dirty="0"/>
          </a:p>
          <a:p>
            <a:pPr latinLnBrk="1"/>
            <a:r>
              <a:rPr lang="zh-CN" altLang="en-US" dirty="0"/>
              <a:t>场景：</a:t>
            </a:r>
            <a:r>
              <a:rPr lang="en-US" altLang="zh-CN" dirty="0"/>
              <a:t>PCIe</a:t>
            </a:r>
            <a:r>
              <a:rPr lang="zh-CN" altLang="en-US" dirty="0"/>
              <a:t>交换机的</a:t>
            </a:r>
            <a:r>
              <a:rPr lang="en-US" altLang="zh-CN" dirty="0"/>
              <a:t>MFD</a:t>
            </a:r>
            <a:r>
              <a:rPr lang="zh-CN" altLang="en-US" dirty="0"/>
              <a:t>，非</a:t>
            </a:r>
            <a:r>
              <a:rPr lang="en-US" altLang="zh-CN" dirty="0"/>
              <a:t>function 0</a:t>
            </a:r>
            <a:r>
              <a:rPr lang="zh-CN" altLang="en-US" dirty="0"/>
              <a:t>先被移除</a:t>
            </a:r>
          </a:p>
          <a:p>
            <a:pPr latinLnBrk="1"/>
            <a:r>
              <a:rPr lang="zh-CN" altLang="en-US" dirty="0"/>
              <a:t>结果：父链路被提前释放，子链路仍有引用 → </a:t>
            </a:r>
            <a:r>
              <a:rPr lang="en-US" altLang="zh-CN" dirty="0"/>
              <a:t>use-after-free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1B40239D-55F9-4F85-4FA6-72D18637768F}"/>
              </a:ext>
            </a:extLst>
          </p:cNvPr>
          <p:cNvSpPr txBox="1"/>
          <p:nvPr/>
        </p:nvSpPr>
        <p:spPr>
          <a:xfrm>
            <a:off x="5449529" y="2418457"/>
            <a:ext cx="6855097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zh-C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"@</a:t>
            </a:r>
            <a:r>
              <a:rPr lang="en-US" altLang="zh-CN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pcie_aspm_exit_link_state</a:t>
            </a:r>
            <a:r>
              <a:rPr lang="en-US" altLang="zh-C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@",</a:t>
            </a:r>
          </a:p>
          <a:p>
            <a:pPr>
              <a:buNone/>
            </a:pPr>
            <a:r>
              <a:rPr lang="en-US" altLang="zh-C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"meta struct </a:t>
            </a:r>
            <a:r>
              <a:rPr lang="en-US" altLang="zh-CN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pcie_link_state</a:t>
            </a:r>
            <a:r>
              <a:rPr lang="en-US" altLang="zh-C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* link;",</a:t>
            </a:r>
          </a:p>
          <a:p>
            <a:pPr>
              <a:buNone/>
            </a:pPr>
            <a:r>
              <a:rPr lang="en-US" altLang="zh-C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"meta struct </a:t>
            </a:r>
            <a:r>
              <a:rPr lang="en-US" altLang="zh-CN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pci_dev</a:t>
            </a:r>
            <a:r>
              <a:rPr lang="en-US" altLang="zh-C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* parent;",</a:t>
            </a:r>
          </a:p>
          <a:p>
            <a:pPr>
              <a:buNone/>
            </a:pPr>
            <a:r>
              <a:rPr lang="en-US" altLang="zh-C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"meta struct </a:t>
            </a:r>
            <a:r>
              <a:rPr lang="en-US" altLang="zh-CN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pcie_link_state</a:t>
            </a:r>
            <a:r>
              <a:rPr lang="en-US" altLang="zh-C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* </a:t>
            </a:r>
            <a:r>
              <a:rPr lang="en-US" altLang="zh-CN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parent_link</a:t>
            </a:r>
            <a:r>
              <a:rPr lang="en-US" altLang="zh-C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;",</a:t>
            </a:r>
          </a:p>
          <a:p>
            <a:pPr>
              <a:buNone/>
            </a:pPr>
            <a:r>
              <a:rPr lang="en-US" altLang="zh-C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"meta struct </a:t>
            </a:r>
            <a:r>
              <a:rPr lang="en-US" altLang="zh-CN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pci_dev</a:t>
            </a:r>
            <a:r>
              <a:rPr lang="en-US" altLang="zh-C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* </a:t>
            </a:r>
            <a:r>
              <a:rPr lang="en-US" altLang="zh-CN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pdev</a:t>
            </a:r>
            <a:r>
              <a:rPr lang="en-US" altLang="zh-C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;",</a:t>
            </a:r>
          </a:p>
          <a:p>
            <a:pPr>
              <a:buNone/>
            </a:pPr>
            <a:r>
              <a:rPr lang="en-US" altLang="zh-C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"@@",</a:t>
            </a:r>
          </a:p>
          <a:p>
            <a:pPr>
              <a:buNone/>
            </a:pPr>
            <a:r>
              <a:rPr lang="en-US" altLang="zh-C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"link = parent-&gt;</a:t>
            </a:r>
            <a:r>
              <a:rPr lang="en-US" altLang="zh-CN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link_state</a:t>
            </a:r>
            <a:r>
              <a:rPr lang="en-US" altLang="zh-C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",</a:t>
            </a:r>
          </a:p>
          <a:p>
            <a:pPr>
              <a:buNone/>
            </a:pPr>
            <a:r>
              <a:rPr lang="en-US" altLang="zh-C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zh-CN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parent_link</a:t>
            </a:r>
            <a:r>
              <a:rPr lang="en-US" altLang="zh-C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= link-&gt;parent",</a:t>
            </a:r>
          </a:p>
          <a:p>
            <a:pPr>
              <a:buNone/>
            </a:pPr>
            <a:r>
              <a:rPr lang="en-US" altLang="zh-C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"not {",</a:t>
            </a:r>
          </a:p>
          <a:p>
            <a:pPr>
              <a:buNone/>
            </a:pPr>
            <a:r>
              <a:rPr lang="en-US" altLang="zh-C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  if (</a:t>
            </a:r>
            <a:r>
              <a:rPr lang="en-US" altLang="zh-CN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pdev</a:t>
            </a:r>
            <a:r>
              <a:rPr lang="en-US" altLang="zh-C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!= link-&gt;downstream)",</a:t>
            </a:r>
          </a:p>
          <a:p>
            <a:pPr>
              <a:buNone/>
            </a:pPr>
            <a:r>
              <a:rPr lang="en-US" altLang="zh-C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"}",</a:t>
            </a:r>
          </a:p>
          <a:p>
            <a:pPr>
              <a:buNone/>
            </a:pPr>
            <a:r>
              <a:rPr lang="en-US" altLang="zh-C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zh-CN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pcie_config_aspm_link</a:t>
            </a:r>
            <a:r>
              <a:rPr lang="en-US" altLang="zh-C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(link, 0)",</a:t>
            </a:r>
          </a:p>
          <a:p>
            <a:pPr>
              <a:buNone/>
            </a:pPr>
            <a:r>
              <a:rPr lang="en-US" altLang="zh-C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zh-CN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list_del</a:t>
            </a:r>
            <a:r>
              <a:rPr lang="en-US" altLang="zh-C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(&amp;link-&gt;sibling)",</a:t>
            </a:r>
          </a:p>
          <a:p>
            <a:pPr>
              <a:buNone/>
            </a:pPr>
            <a:r>
              <a:rPr lang="en-US" altLang="zh-C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zh-CN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free_link_state</a:t>
            </a:r>
            <a:r>
              <a:rPr lang="en-US" altLang="zh-C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(link)"</a:t>
            </a:r>
            <a:endParaRPr lang="en-US" altLang="zh-C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3AE8C43B-E8C8-59BD-DCAD-D9395004D4B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345" y="1020364"/>
            <a:ext cx="4886361" cy="55816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163667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25C754-C753-0E48-822F-5BCB2E3869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728E528B-548C-C43D-BD1E-F468CEC43B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0"/>
            <a:ext cx="6627136" cy="3782961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B08D726A-C94B-19CF-A702-7611FF42D5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784033"/>
            <a:ext cx="5987845" cy="3068281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80B2C209-B361-2B44-DED4-F95D5AC3FBE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9824" y="0"/>
            <a:ext cx="5972175" cy="3228975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D6FFA95E-7F67-DAAA-ED47-FE14E3A86D8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07973" y="3215916"/>
            <a:ext cx="7384025" cy="3630771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37B40E86-7951-1D03-88BC-456946CB342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019" y="33177"/>
            <a:ext cx="6068982" cy="4642476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9CE937C7-31DD-7770-065E-322ECE74D74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2715376"/>
            <a:ext cx="6939116" cy="4123060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7C51A153-E8D0-E71F-8854-3894884D885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24761" y="-3694"/>
            <a:ext cx="5967237" cy="4531449"/>
          </a:xfrm>
          <a:prstGeom prst="rect">
            <a:avLst/>
          </a:prstGeom>
        </p:spPr>
      </p:pic>
      <p:pic>
        <p:nvPicPr>
          <p:cNvPr id="17" name="图片 16">
            <a:extLst>
              <a:ext uri="{FF2B5EF4-FFF2-40B4-BE49-F238E27FC236}">
                <a16:creationId xmlns:a16="http://schemas.microsoft.com/office/drawing/2014/main" id="{53F67155-DFF4-66C6-6185-607D975EAA8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268178" y="618757"/>
            <a:ext cx="7030680" cy="56204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41045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5A17C2-FB58-2532-044A-6A61186EAB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6749152E-F1B7-3D1C-91C6-8E5BD3D61C62}"/>
              </a:ext>
            </a:extLst>
          </p:cNvPr>
          <p:cNvSpPr txBox="1"/>
          <p:nvPr/>
        </p:nvSpPr>
        <p:spPr>
          <a:xfrm>
            <a:off x="393700" y="438150"/>
            <a:ext cx="476765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latin typeface="+mn-ea"/>
              </a:rPr>
              <a:t>案例展示：</a:t>
            </a:r>
            <a:r>
              <a:rPr lang="en-US" altLang="zh-CN" sz="2800" b="1" dirty="0">
                <a:latin typeface="+mn-ea"/>
              </a:rPr>
              <a:t>CVE-2024-58094</a:t>
            </a:r>
            <a:endParaRPr lang="zh-CN" altLang="en-US" sz="2800" b="1" dirty="0">
              <a:latin typeface="+mn-ea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6ADD2C3C-0C48-97C5-AACD-6DB97592661D}"/>
              </a:ext>
            </a:extLst>
          </p:cNvPr>
          <p:cNvSpPr txBox="1"/>
          <p:nvPr/>
        </p:nvSpPr>
        <p:spPr>
          <a:xfrm>
            <a:off x="179556" y="3820628"/>
            <a:ext cx="5195939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i="0" dirty="0">
                <a:solidFill>
                  <a:srgbClr val="0F1115"/>
                </a:solidFill>
                <a:effectLst/>
                <a:latin typeface="quote-cjk-patch"/>
              </a:rPr>
              <a:t>Misuse</a:t>
            </a:r>
          </a:p>
          <a:p>
            <a:endParaRPr lang="en-US" altLang="zh-CN" b="1" dirty="0">
              <a:solidFill>
                <a:srgbClr val="0F1115"/>
              </a:solidFill>
              <a:latin typeface="quote-cjk-patch"/>
            </a:endParaRPr>
          </a:p>
          <a:p>
            <a:r>
              <a:rPr lang="zh-CN" altLang="en-US" dirty="0"/>
              <a:t>在 </a:t>
            </a:r>
            <a:r>
              <a:rPr lang="en-US" altLang="zh-CN" dirty="0" err="1"/>
              <a:t>jfs_truncate_nolock</a:t>
            </a:r>
            <a:r>
              <a:rPr lang="en-US" altLang="zh-CN" dirty="0"/>
              <a:t>()</a:t>
            </a:r>
            <a:r>
              <a:rPr lang="zh-CN" altLang="en-US" dirty="0"/>
              <a:t> 函数中，当文件系统处于只读模式时，原有的代码路径会尝试进行事务操作（</a:t>
            </a:r>
            <a:r>
              <a:rPr lang="en-US" altLang="zh-CN" dirty="0" err="1"/>
              <a:t>txBegin</a:t>
            </a:r>
            <a:r>
              <a:rPr lang="en-US" altLang="zh-CN" dirty="0"/>
              <a:t>/</a:t>
            </a:r>
            <a:r>
              <a:rPr lang="en-US" altLang="zh-CN" dirty="0" err="1"/>
              <a:t>txEnd</a:t>
            </a:r>
            <a:r>
              <a:rPr lang="zh-CN" altLang="en-US" dirty="0"/>
              <a:t>），但这些操作会访问已经被设置为 </a:t>
            </a:r>
            <a:r>
              <a:rPr lang="en-US" altLang="zh-CN" dirty="0"/>
              <a:t>NULL</a:t>
            </a:r>
            <a:r>
              <a:rPr lang="zh-CN" altLang="en-US" dirty="0"/>
              <a:t> 的日志结构体 </a:t>
            </a:r>
            <a:r>
              <a:rPr lang="en-US" altLang="zh-CN" dirty="0"/>
              <a:t>log</a:t>
            </a:r>
            <a:r>
              <a:rPr lang="zh-CN" altLang="en-US" dirty="0"/>
              <a:t>。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3C575E2C-4E8A-F300-DA50-D8D4B16A5C23}"/>
              </a:ext>
            </a:extLst>
          </p:cNvPr>
          <p:cNvSpPr txBox="1"/>
          <p:nvPr/>
        </p:nvSpPr>
        <p:spPr>
          <a:xfrm>
            <a:off x="5721790" y="1952345"/>
            <a:ext cx="7242042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zh-CN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"@</a:t>
            </a:r>
            <a:r>
              <a:rPr lang="en-US" altLang="zh-CN" sz="16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jfs_truncate_nolock</a:t>
            </a:r>
            <a:r>
              <a:rPr lang="en-US" altLang="zh-CN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@",</a:t>
            </a:r>
          </a:p>
          <a:p>
            <a:pPr>
              <a:buNone/>
            </a:pPr>
            <a:r>
              <a:rPr lang="en-US" altLang="zh-CN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"meta struct </a:t>
            </a:r>
            <a:r>
              <a:rPr lang="en-US" altLang="zh-CN" sz="16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inode</a:t>
            </a:r>
            <a:r>
              <a:rPr lang="en-US" altLang="zh-CN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* </a:t>
            </a:r>
            <a:r>
              <a:rPr lang="en-US" altLang="zh-CN" sz="16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ip</a:t>
            </a:r>
            <a:r>
              <a:rPr lang="en-US" altLang="zh-CN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;",</a:t>
            </a:r>
          </a:p>
          <a:p>
            <a:pPr>
              <a:buNone/>
            </a:pPr>
            <a:r>
              <a:rPr lang="en-US" altLang="zh-CN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"meta </a:t>
            </a:r>
            <a:r>
              <a:rPr lang="en-US" altLang="zh-CN" sz="16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tid_t</a:t>
            </a:r>
            <a:r>
              <a:rPr lang="en-US" altLang="zh-CN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6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tid</a:t>
            </a:r>
            <a:r>
              <a:rPr lang="en-US" altLang="zh-CN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;",</a:t>
            </a:r>
          </a:p>
          <a:p>
            <a:pPr>
              <a:buNone/>
            </a:pPr>
            <a:r>
              <a:rPr lang="en-US" altLang="zh-CN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"@@",</a:t>
            </a:r>
          </a:p>
          <a:p>
            <a:pPr>
              <a:buNone/>
            </a:pPr>
            <a:r>
              <a:rPr lang="en-US" altLang="zh-CN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"not {",</a:t>
            </a:r>
          </a:p>
          <a:p>
            <a:pPr>
              <a:buNone/>
            </a:pPr>
            <a:r>
              <a:rPr lang="en-US" altLang="zh-CN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  if (</a:t>
            </a:r>
            <a:r>
              <a:rPr lang="en-US" altLang="zh-CN" sz="16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test_cflag</a:t>
            </a:r>
            <a:r>
              <a:rPr lang="en-US" altLang="zh-CN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16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COMMIT_Nolink</a:t>
            </a:r>
            <a:r>
              <a:rPr lang="en-US" altLang="zh-CN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16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ip</a:t>
            </a:r>
            <a:r>
              <a:rPr lang="en-US" altLang="zh-CN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) || </a:t>
            </a:r>
            <a:r>
              <a:rPr lang="en-US" altLang="zh-CN" sz="16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isReadOnly</a:t>
            </a:r>
            <a:r>
              <a:rPr lang="en-US" altLang="zh-CN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16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ip</a:t>
            </a:r>
            <a:r>
              <a:rPr lang="en-US" altLang="zh-CN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))",</a:t>
            </a:r>
          </a:p>
          <a:p>
            <a:pPr>
              <a:buNone/>
            </a:pPr>
            <a:r>
              <a:rPr lang="en-US" altLang="zh-CN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"}",</a:t>
            </a:r>
          </a:p>
          <a:p>
            <a:pPr>
              <a:buNone/>
            </a:pPr>
            <a:r>
              <a:rPr lang="en-US" altLang="zh-CN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zh-CN" sz="16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tid</a:t>
            </a:r>
            <a:r>
              <a:rPr lang="en-US" altLang="zh-CN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zh-CN" sz="16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txBegin</a:t>
            </a:r>
            <a:r>
              <a:rPr lang="en-US" altLang="zh-CN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16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ip</a:t>
            </a:r>
            <a:r>
              <a:rPr lang="en-US" altLang="zh-CN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altLang="zh-CN" sz="16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i_sb</a:t>
            </a:r>
            <a:r>
              <a:rPr lang="en-US" altLang="zh-CN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, 0)",</a:t>
            </a:r>
          </a:p>
          <a:p>
            <a:pPr>
              <a:buNone/>
            </a:pPr>
            <a:r>
              <a:rPr lang="en-US" altLang="zh-CN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zh-CN" sz="16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mark_inode_dirty</a:t>
            </a:r>
            <a:r>
              <a:rPr lang="en-US" altLang="zh-CN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16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ip</a:t>
            </a:r>
            <a:r>
              <a:rPr lang="en-US" altLang="zh-CN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)",</a:t>
            </a:r>
          </a:p>
          <a:p>
            <a:pPr>
              <a:buNone/>
            </a:pPr>
            <a:r>
              <a:rPr lang="en-US" altLang="zh-CN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zh-CN" sz="16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txCommit</a:t>
            </a:r>
            <a:r>
              <a:rPr lang="en-US" altLang="zh-CN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16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tid</a:t>
            </a:r>
            <a:r>
              <a:rPr lang="en-US" altLang="zh-CN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, 1, &amp;</a:t>
            </a:r>
            <a:r>
              <a:rPr lang="en-US" altLang="zh-CN" sz="16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ip</a:t>
            </a:r>
            <a:r>
              <a:rPr lang="en-US" altLang="zh-CN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, 0)"</a:t>
            </a:r>
            <a:endParaRPr lang="en-US" altLang="zh-CN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EAD2B9C4-8EEF-D40A-2245-0F54CB952D8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3700" y="1625843"/>
            <a:ext cx="4953036" cy="19716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775972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CF22AA-052F-E486-C8DC-BA725E537E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FBFA6EA1-A10C-9E06-A12E-61F9C9F06A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"/>
            <a:ext cx="6096000" cy="3838470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D514BCA3-8F7F-E861-D0FC-105C9AF61F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193026"/>
            <a:ext cx="6095192" cy="3664973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7FF473B3-5D5B-7C82-F8A7-289B2ABE9E3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79082" y="0"/>
            <a:ext cx="6112109" cy="3838470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A56BDE7E-C4FC-C9C1-C2EE-4BE0131C90B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5191" y="2211398"/>
            <a:ext cx="6096000" cy="4646601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130F6465-C1C0-714F-18EE-6C094CFCE67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1" y="0"/>
            <a:ext cx="6094383" cy="3679627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699EC89A-1E85-66C7-1F8F-BA8ADC94DAB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712804" y="1187182"/>
            <a:ext cx="6585440" cy="43443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20073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6B15A2-4863-637D-AB77-B5A7E0AF67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B7923FBA-AC09-8A6A-7985-1E854461E23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590" y="1151622"/>
            <a:ext cx="5486440" cy="2533669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31A732FA-662B-3B83-32D8-0CD60CD9D7B0}"/>
              </a:ext>
            </a:extLst>
          </p:cNvPr>
          <p:cNvSpPr txBox="1"/>
          <p:nvPr/>
        </p:nvSpPr>
        <p:spPr>
          <a:xfrm>
            <a:off x="393700" y="438150"/>
            <a:ext cx="486703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latin typeface="+mn-ea"/>
              </a:rPr>
              <a:t>案例展示：</a:t>
            </a:r>
            <a:r>
              <a:rPr lang="en-US" altLang="zh-CN" sz="2800" b="1" dirty="0">
                <a:latin typeface="+mn-ea"/>
              </a:rPr>
              <a:t> CVE-2025-38341</a:t>
            </a:r>
            <a:endParaRPr lang="zh-CN" altLang="en-US" sz="2800" b="1" dirty="0">
              <a:latin typeface="+mn-ea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6BE32245-62EB-4116-0FC3-A0A30F771F29}"/>
              </a:ext>
            </a:extLst>
          </p:cNvPr>
          <p:cNvSpPr txBox="1"/>
          <p:nvPr/>
        </p:nvSpPr>
        <p:spPr>
          <a:xfrm>
            <a:off x="253590" y="4111526"/>
            <a:ext cx="5195939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i="0" dirty="0">
                <a:solidFill>
                  <a:srgbClr val="0F1115"/>
                </a:solidFill>
                <a:effectLst/>
                <a:latin typeface="quote-cjk-patch"/>
              </a:rPr>
              <a:t>Double Free</a:t>
            </a:r>
          </a:p>
          <a:p>
            <a:endParaRPr lang="en-US" altLang="zh-CN" b="1" dirty="0">
              <a:solidFill>
                <a:srgbClr val="0F1115"/>
              </a:solidFill>
              <a:latin typeface="quote-cjk-patch"/>
            </a:endParaRPr>
          </a:p>
          <a:p>
            <a:r>
              <a:rPr lang="zh-CN" altLang="en-US" dirty="0"/>
              <a:t>在 </a:t>
            </a:r>
            <a:r>
              <a:rPr lang="en-US" altLang="zh-CN" dirty="0" err="1"/>
              <a:t>fbnic_mbx_map_msg</a:t>
            </a:r>
            <a:r>
              <a:rPr lang="en-US" altLang="zh-CN" dirty="0"/>
              <a:t>()</a:t>
            </a:r>
            <a:r>
              <a:rPr lang="zh-CN" altLang="en-US" dirty="0"/>
              <a:t> 函数中，当 </a:t>
            </a:r>
            <a:r>
              <a:rPr lang="en-US" altLang="zh-CN" dirty="0" err="1"/>
              <a:t>dma_map_single</a:t>
            </a:r>
            <a:r>
              <a:rPr lang="en-US" altLang="zh-CN" dirty="0"/>
              <a:t>()</a:t>
            </a:r>
            <a:r>
              <a:rPr lang="zh-CN" altLang="en-US" dirty="0"/>
              <a:t> 失败时，函数内部调用了 </a:t>
            </a:r>
            <a:r>
              <a:rPr lang="en-US" altLang="zh-CN" dirty="0" err="1"/>
              <a:t>free_page</a:t>
            </a:r>
            <a:r>
              <a:rPr lang="en-US" altLang="zh-CN" dirty="0"/>
              <a:t>()</a:t>
            </a:r>
            <a:r>
              <a:rPr lang="zh-CN" altLang="en-US" dirty="0"/>
              <a:t> 释放了 </a:t>
            </a:r>
            <a:r>
              <a:rPr lang="en-US" altLang="zh-CN" dirty="0"/>
              <a:t>msg</a:t>
            </a:r>
            <a:r>
              <a:rPr lang="zh-CN" altLang="en-US" dirty="0"/>
              <a:t> 指向的内存。但根据函数设计，调用者保留消息的所有权，调用者在自己的错误处理路径中也会释放这块内存，导致 </a:t>
            </a:r>
            <a:r>
              <a:rPr lang="en-US" altLang="zh-CN" dirty="0"/>
              <a:t>double-free</a:t>
            </a:r>
            <a:r>
              <a:rPr lang="zh-CN" altLang="en-US" dirty="0"/>
              <a:t>。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A365143D-261F-A5E3-6EA6-A70BEB0B539C}"/>
              </a:ext>
            </a:extLst>
          </p:cNvPr>
          <p:cNvSpPr txBox="1"/>
          <p:nvPr/>
        </p:nvSpPr>
        <p:spPr>
          <a:xfrm>
            <a:off x="5336903" y="2284907"/>
            <a:ext cx="6855097" cy="2800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zh-CN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"@</a:t>
            </a:r>
            <a:r>
              <a:rPr lang="en-US" altLang="zh-CN" sz="16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fbnic_mbx_map_msg</a:t>
            </a:r>
            <a:r>
              <a:rPr lang="en-US" altLang="zh-CN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@",</a:t>
            </a:r>
          </a:p>
          <a:p>
            <a:pPr>
              <a:buNone/>
            </a:pPr>
            <a:r>
              <a:rPr lang="en-US" altLang="zh-CN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"meta </a:t>
            </a:r>
            <a:r>
              <a:rPr lang="en-US" altLang="zh-CN" sz="16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dma_addr_t</a:t>
            </a:r>
            <a:r>
              <a:rPr lang="en-US" altLang="zh-CN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6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addr</a:t>
            </a:r>
            <a:r>
              <a:rPr lang="en-US" altLang="zh-CN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;",</a:t>
            </a:r>
          </a:p>
          <a:p>
            <a:pPr>
              <a:buNone/>
            </a:pPr>
            <a:r>
              <a:rPr lang="en-US" altLang="zh-CN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"meta int direction;",</a:t>
            </a:r>
          </a:p>
          <a:p>
            <a:pPr>
              <a:buNone/>
            </a:pPr>
            <a:r>
              <a:rPr lang="en-US" altLang="zh-CN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"meta struct </a:t>
            </a:r>
            <a:r>
              <a:rPr lang="en-US" altLang="zh-CN" sz="16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fbnic_dev</a:t>
            </a:r>
            <a:r>
              <a:rPr lang="en-US" altLang="zh-CN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* </a:t>
            </a:r>
            <a:r>
              <a:rPr lang="en-US" altLang="zh-CN" sz="16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fbd</a:t>
            </a:r>
            <a:r>
              <a:rPr lang="en-US" altLang="zh-CN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;",</a:t>
            </a:r>
          </a:p>
          <a:p>
            <a:pPr>
              <a:buNone/>
            </a:pPr>
            <a:r>
              <a:rPr lang="en-US" altLang="zh-CN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"meta int </a:t>
            </a:r>
            <a:r>
              <a:rPr lang="en-US" altLang="zh-CN" sz="16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mbx_idx</a:t>
            </a:r>
            <a:r>
              <a:rPr lang="en-US" altLang="zh-CN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;",</a:t>
            </a:r>
          </a:p>
          <a:p>
            <a:pPr>
              <a:buNone/>
            </a:pPr>
            <a:r>
              <a:rPr lang="en-US" altLang="zh-CN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"meta struct </a:t>
            </a:r>
            <a:r>
              <a:rPr lang="en-US" altLang="zh-CN" sz="16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fbnic_tlv_msg</a:t>
            </a:r>
            <a:r>
              <a:rPr lang="en-US" altLang="zh-CN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* msg;",</a:t>
            </a:r>
          </a:p>
          <a:p>
            <a:pPr>
              <a:buNone/>
            </a:pPr>
            <a:r>
              <a:rPr lang="en-US" altLang="zh-CN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"@@",</a:t>
            </a:r>
          </a:p>
          <a:p>
            <a:pPr>
              <a:buNone/>
            </a:pPr>
            <a:r>
              <a:rPr lang="en-US" altLang="zh-CN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"direction = (</a:t>
            </a:r>
            <a:r>
              <a:rPr lang="en-US" altLang="zh-CN" sz="16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mbx_idx</a:t>
            </a:r>
            <a:r>
              <a:rPr lang="en-US" altLang="zh-CN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== FBNIC_IPC_MBX_RX_IDX) ? DMA_FROM_DEVICE :DMA_TO_DEVICE",</a:t>
            </a:r>
          </a:p>
          <a:p>
            <a:pPr>
              <a:buNone/>
            </a:pPr>
            <a:r>
              <a:rPr lang="en-US" altLang="zh-CN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zh-CN" sz="16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addr</a:t>
            </a:r>
            <a:r>
              <a:rPr lang="en-US" altLang="zh-CN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zh-CN" sz="16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dma_map_single</a:t>
            </a:r>
            <a:r>
              <a:rPr lang="en-US" altLang="zh-CN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16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fbd</a:t>
            </a:r>
            <a:r>
              <a:rPr lang="en-US" altLang="zh-CN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-&gt;dev, msg, PAGE_SIZE, direction)",</a:t>
            </a:r>
          </a:p>
          <a:p>
            <a:pPr>
              <a:buNone/>
            </a:pPr>
            <a:r>
              <a:rPr lang="en-US" altLang="zh-CN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zh-CN" sz="16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free_page</a:t>
            </a:r>
            <a:r>
              <a:rPr lang="en-US" altLang="zh-CN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((unsigned long)msg)"</a:t>
            </a:r>
            <a:endParaRPr lang="en-US" altLang="zh-CN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9494317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43CE0D-7917-0880-CA2B-711E237417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46E2351C-DE0F-891F-58AF-3E404B71CB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096000" cy="3790462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5C7A0FEC-DBB1-6DB2-7D10-805056B7CD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262744"/>
            <a:ext cx="7573297" cy="4595256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D1B71648-0CB9-12FE-1D3C-59FABB79B68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15897" y="759542"/>
            <a:ext cx="6676103" cy="5069753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5D112D4F-DFF9-3619-DDF3-D803A87900E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99854" y="1463782"/>
            <a:ext cx="7792292" cy="36766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3718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81B5C9-DE3E-9636-A38C-E983B87FD9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950223C3-BC57-DC91-0040-695D2ECD7810}"/>
              </a:ext>
            </a:extLst>
          </p:cNvPr>
          <p:cNvSpPr txBox="1"/>
          <p:nvPr/>
        </p:nvSpPr>
        <p:spPr>
          <a:xfrm>
            <a:off x="851585" y="744387"/>
            <a:ext cx="415085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5400" b="1" dirty="0"/>
              <a:t>未来工作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3AFA5447-B6FD-E251-06BF-4761CDD45403}"/>
              </a:ext>
            </a:extLst>
          </p:cNvPr>
          <p:cNvSpPr txBox="1"/>
          <p:nvPr/>
        </p:nvSpPr>
        <p:spPr>
          <a:xfrm>
            <a:off x="1703158" y="2359291"/>
            <a:ext cx="5095511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将方法论应用于鸿蒙内核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支持</a:t>
            </a:r>
            <a:r>
              <a:rPr lang="en-US" altLang="zh-CN" dirty="0"/>
              <a:t>DTS</a:t>
            </a:r>
            <a:r>
              <a:rPr lang="zh-CN" altLang="en-US" dirty="0"/>
              <a:t>问题单解析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注入鸿蒙领域知识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与形式化已有平台结合</a:t>
            </a:r>
          </a:p>
        </p:txBody>
      </p:sp>
    </p:spTree>
    <p:extLst>
      <p:ext uri="{BB962C8B-B14F-4D97-AF65-F5344CB8AC3E}">
        <p14:creationId xmlns:p14="http://schemas.microsoft.com/office/powerpoint/2010/main" val="361031403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113FCD-531A-2E35-1FB9-68A20D230B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CB0B2ABA-400B-DC2F-122B-A15562516B83}"/>
              </a:ext>
            </a:extLst>
          </p:cNvPr>
          <p:cNvSpPr txBox="1"/>
          <p:nvPr/>
        </p:nvSpPr>
        <p:spPr>
          <a:xfrm>
            <a:off x="774803" y="667606"/>
            <a:ext cx="415085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5400" b="1" dirty="0"/>
              <a:t>风险和问题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5BF0EE0A-98BA-0435-A58A-4C7C6D8B3458}"/>
              </a:ext>
            </a:extLst>
          </p:cNvPr>
          <p:cNvSpPr txBox="1"/>
          <p:nvPr/>
        </p:nvSpPr>
        <p:spPr>
          <a:xfrm>
            <a:off x="1340190" y="1933502"/>
            <a:ext cx="5549221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/>
              <a:t>内部大模型问题</a:t>
            </a:r>
            <a:endParaRPr lang="en-US" altLang="zh-CN" b="1" dirty="0"/>
          </a:p>
          <a:p>
            <a:br>
              <a:rPr lang="en-US" altLang="zh-CN" dirty="0"/>
            </a:br>
            <a:endParaRPr lang="en-US" altLang="zh-CN" dirty="0"/>
          </a:p>
          <a:p>
            <a:r>
              <a:rPr lang="zh-CN" altLang="en-US" dirty="0"/>
              <a:t>       白天负载高，首字延迟高，请求次数受限</a:t>
            </a:r>
            <a:br>
              <a:rPr lang="en-US" altLang="zh-CN" dirty="0"/>
            </a:b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br>
              <a:rPr lang="en-US" altLang="zh-CN" dirty="0"/>
            </a:br>
            <a:r>
              <a:rPr lang="zh-CN" altLang="en-US" b="1" dirty="0"/>
              <a:t>通勤问题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5749450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1201</TotalTime>
  <Words>2064</Words>
  <Application>Microsoft Office PowerPoint</Application>
  <PresentationFormat>宽屏</PresentationFormat>
  <Paragraphs>400</Paragraphs>
  <Slides>45</Slides>
  <Notes>35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45</vt:i4>
      </vt:variant>
    </vt:vector>
  </HeadingPairs>
  <TitlesOfParts>
    <vt:vector size="51" baseType="lpstr">
      <vt:lpstr>quote-cjk-patch</vt:lpstr>
      <vt:lpstr>等线</vt:lpstr>
      <vt:lpstr>等线 Light</vt:lpstr>
      <vt:lpstr>Arial</vt:lpstr>
      <vt:lpstr>Consolas</vt:lpstr>
      <vt:lpstr>Office 主题​​</vt:lpstr>
      <vt:lpstr>基于大模型和领域建模语言的安全漏洞模式挖掘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e3790</dc:creator>
  <cp:lastModifiedBy>涵宇 张</cp:lastModifiedBy>
  <cp:revision>280</cp:revision>
  <dcterms:created xsi:type="dcterms:W3CDTF">2026-04-19T05:21:49Z</dcterms:created>
  <dcterms:modified xsi:type="dcterms:W3CDTF">2026-05-20T10:09:35Z</dcterms:modified>
</cp:coreProperties>
</file>